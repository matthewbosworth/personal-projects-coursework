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2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1.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sp>
        <p:nvSpPr>
          <p:cNvPr id="3" name="Shape 1"/>
          <p:cNvSpPr/>
          <p:nvPr/>
        </p:nvSpPr>
        <p:spPr>
          <a:xfrm>
            <a:off x="0" y="5084064"/>
            <a:ext cx="9144000" cy="59436"/>
          </a:xfrm>
          <a:prstGeom prst="rect">
            <a:avLst/>
          </a:prstGeom>
          <a:solidFill>
            <a:srgbClr val="2E86DE"/>
          </a:solidFill>
          <a:ln/>
        </p:spPr>
        <p:txBody>
          <a:bodyPr/>
          <a:lstStyle/>
          <a:p>
            <a:endParaRPr lang="en-US"/>
          </a:p>
        </p:txBody>
      </p:sp>
      <p:sp>
        <p:nvSpPr>
          <p:cNvPr id="4" name="Shape 2"/>
          <p:cNvSpPr/>
          <p:nvPr/>
        </p:nvSpPr>
        <p:spPr>
          <a:xfrm>
            <a:off x="640080" y="457200"/>
            <a:ext cx="731520" cy="731520"/>
          </a:xfrm>
          <a:prstGeom prst="ellipse">
            <a:avLst/>
          </a:prstGeom>
          <a:solidFill>
            <a:srgbClr val="1A4B8C"/>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1014" y="618134"/>
            <a:ext cx="409651" cy="409651"/>
          </a:xfrm>
          <a:prstGeom prst="rect">
            <a:avLst/>
          </a:prstGeom>
        </p:spPr>
      </p:pic>
      <p:sp>
        <p:nvSpPr>
          <p:cNvPr id="6" name="Shape 3"/>
          <p:cNvSpPr/>
          <p:nvPr/>
        </p:nvSpPr>
        <p:spPr>
          <a:xfrm>
            <a:off x="1554480" y="548640"/>
            <a:ext cx="594360" cy="594360"/>
          </a:xfrm>
          <a:prstGeom prst="ellipse">
            <a:avLst/>
          </a:prstGeom>
          <a:solidFill>
            <a:srgbClr val="2E86DE"/>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1685239" y="679399"/>
            <a:ext cx="332842" cy="332842"/>
          </a:xfrm>
          <a:prstGeom prst="rect">
            <a:avLst/>
          </a:prstGeom>
        </p:spPr>
      </p:pic>
      <p:sp>
        <p:nvSpPr>
          <p:cNvPr id="8" name="Text 4"/>
          <p:cNvSpPr/>
          <p:nvPr/>
        </p:nvSpPr>
        <p:spPr>
          <a:xfrm>
            <a:off x="640080" y="1371600"/>
            <a:ext cx="7863840" cy="914400"/>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iOS</a:t>
            </a:r>
            <a:endParaRPr lang="en-US" sz="5200" dirty="0"/>
          </a:p>
        </p:txBody>
      </p:sp>
      <p:sp>
        <p:nvSpPr>
          <p:cNvPr id="9" name="Text 5"/>
          <p:cNvSpPr/>
          <p:nvPr/>
        </p:nvSpPr>
        <p:spPr>
          <a:xfrm>
            <a:off x="640080" y="2240280"/>
            <a:ext cx="7863840" cy="457200"/>
          </a:xfrm>
          <a:prstGeom prst="rect">
            <a:avLst/>
          </a:prstGeom>
          <a:noFill/>
          <a:ln/>
        </p:spPr>
        <p:txBody>
          <a:bodyPr wrap="square" lIns="0" tIns="0" rIns="0" bIns="0" rtlCol="0" anchor="ctr"/>
          <a:lstStyle/>
          <a:p>
            <a:pPr marL="0" indent="0">
              <a:buNone/>
            </a:pPr>
            <a:r>
              <a:rPr lang="en-US" sz="2400" dirty="0">
                <a:solidFill>
                  <a:srgbClr val="54A0FF"/>
                </a:solidFill>
                <a:latin typeface="Trebuchet MS" pitchFamily="34" charset="0"/>
                <a:ea typeface="Trebuchet MS" pitchFamily="34" charset="-122"/>
                <a:cs typeface="Trebuchet MS" pitchFamily="34" charset="-120"/>
              </a:rPr>
              <a:t>Apple's Mobile Operating System</a:t>
            </a:r>
            <a:endParaRPr lang="en-US" sz="2400" dirty="0"/>
          </a:p>
        </p:txBody>
      </p:sp>
      <p:sp>
        <p:nvSpPr>
          <p:cNvPr id="10" name="Text 6"/>
          <p:cNvSpPr/>
          <p:nvPr/>
        </p:nvSpPr>
        <p:spPr>
          <a:xfrm>
            <a:off x="640080" y="3108960"/>
            <a:ext cx="7863840" cy="64008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Dylan Trenck  •  Matthew Bosworth  •  Christopher Lu</a:t>
            </a:r>
            <a:endParaRPr lang="en-US" sz="1300" dirty="0"/>
          </a:p>
          <a:p>
            <a:pPr marL="0" indent="0">
              <a:buNone/>
            </a:pPr>
            <a:r>
              <a:rPr lang="en-US" sz="1300" dirty="0">
                <a:solidFill>
                  <a:srgbClr val="64748B"/>
                </a:solidFill>
                <a:latin typeface="Calibri" pitchFamily="34" charset="0"/>
                <a:ea typeface="Calibri" pitchFamily="34" charset="-122"/>
                <a:cs typeface="Calibri" pitchFamily="34" charset="-120"/>
              </a:rPr>
              <a:t>Mohamed Abdou  •  Suphakrit Jinaongkan  •  Zarah Maullon</a:t>
            </a:r>
            <a:endParaRPr lang="en-US" sz="1300" dirty="0"/>
          </a:p>
        </p:txBody>
      </p:sp>
      <p:sp>
        <p:nvSpPr>
          <p:cNvPr id="11" name="Text 7"/>
          <p:cNvSpPr/>
          <p:nvPr/>
        </p:nvSpPr>
        <p:spPr>
          <a:xfrm>
            <a:off x="640080" y="4023360"/>
            <a:ext cx="7863840" cy="5486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COP 4610 – Operating Systems  •  Professor Sanjay Ahuja</a:t>
            </a:r>
            <a:endParaRPr lang="en-US" sz="1200" dirty="0"/>
          </a:p>
          <a:p>
            <a:pPr marL="0" indent="0">
              <a:buNone/>
            </a:pPr>
            <a:r>
              <a:rPr lang="en-US" sz="1200" dirty="0">
                <a:solidFill>
                  <a:srgbClr val="64748B"/>
                </a:solidFill>
                <a:latin typeface="Calibri" pitchFamily="34" charset="0"/>
                <a:ea typeface="Calibri" pitchFamily="34" charset="-122"/>
                <a:cs typeface="Calibri" pitchFamily="34" charset="-120"/>
              </a:rPr>
              <a:t>University of North Florida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Presentation Agenda</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Agenda</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30</a:t>
            </a:r>
            <a:endParaRPr lang="en-US" sz="900" dirty="0"/>
          </a:p>
        </p:txBody>
      </p:sp>
      <p:sp>
        <p:nvSpPr>
          <p:cNvPr id="8" name="Shape 5"/>
          <p:cNvSpPr/>
          <p:nvPr/>
        </p:nvSpPr>
        <p:spPr>
          <a:xfrm>
            <a:off x="548640" y="114300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85800" y="1234440"/>
            <a:ext cx="310896" cy="310896"/>
          </a:xfrm>
          <a:prstGeom prst="rect">
            <a:avLst/>
          </a:prstGeom>
        </p:spPr>
      </p:pic>
      <p:sp>
        <p:nvSpPr>
          <p:cNvPr id="10" name="Text 6"/>
          <p:cNvSpPr/>
          <p:nvPr/>
        </p:nvSpPr>
        <p:spPr>
          <a:xfrm>
            <a:off x="1143000" y="1179576"/>
            <a:ext cx="2011680" cy="182880"/>
          </a:xfrm>
          <a:prstGeom prst="rect">
            <a:avLst/>
          </a:prstGeom>
          <a:noFill/>
          <a:ln/>
        </p:spPr>
        <p:txBody>
          <a:bodyPr wrap="square" lIns="0" tIns="0" rIns="0" bIns="0" rtlCol="0" anchor="ctr"/>
          <a:lstStyle/>
          <a:p>
            <a:pPr marL="0" indent="0">
              <a:buNone/>
            </a:pPr>
            <a:r>
              <a:rPr lang="en-US" sz="1000" b="1" dirty="0">
                <a:solidFill>
                  <a:srgbClr val="2E86DE"/>
                </a:solidFill>
                <a:latin typeface="Calibri" pitchFamily="34" charset="0"/>
                <a:ea typeface="Calibri" pitchFamily="34" charset="-122"/>
                <a:cs typeface="Calibri" pitchFamily="34" charset="-120"/>
              </a:rPr>
              <a:t>Zarah Maullon</a:t>
            </a:r>
            <a:endParaRPr lang="en-US" sz="1000" dirty="0"/>
          </a:p>
        </p:txBody>
      </p:sp>
      <p:sp>
        <p:nvSpPr>
          <p:cNvPr id="11" name="Text 7"/>
          <p:cNvSpPr/>
          <p:nvPr/>
        </p:nvSpPr>
        <p:spPr>
          <a:xfrm>
            <a:off x="1143000" y="1371600"/>
            <a:ext cx="4572000" cy="219456"/>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What is iOS?</a:t>
            </a:r>
            <a:endParaRPr lang="en-US" sz="1400" dirty="0"/>
          </a:p>
        </p:txBody>
      </p:sp>
      <p:sp>
        <p:nvSpPr>
          <p:cNvPr id="12" name="Text 8"/>
          <p:cNvSpPr/>
          <p:nvPr/>
        </p:nvSpPr>
        <p:spPr>
          <a:xfrm>
            <a:off x="6858000" y="1234440"/>
            <a:ext cx="1554480" cy="310896"/>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Slides 3–7</a:t>
            </a:r>
            <a:endParaRPr lang="en-US" sz="1100" dirty="0"/>
          </a:p>
        </p:txBody>
      </p:sp>
      <p:sp>
        <p:nvSpPr>
          <p:cNvPr id="13" name="Shape 9"/>
          <p:cNvSpPr/>
          <p:nvPr/>
        </p:nvSpPr>
        <p:spPr>
          <a:xfrm>
            <a:off x="548640" y="173736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685800" y="1828800"/>
            <a:ext cx="310896" cy="310896"/>
          </a:xfrm>
          <a:prstGeom prst="rect">
            <a:avLst/>
          </a:prstGeom>
        </p:spPr>
      </p:pic>
      <p:sp>
        <p:nvSpPr>
          <p:cNvPr id="15" name="Text 10"/>
          <p:cNvSpPr/>
          <p:nvPr/>
        </p:nvSpPr>
        <p:spPr>
          <a:xfrm>
            <a:off x="1143000" y="1773936"/>
            <a:ext cx="2011680" cy="182880"/>
          </a:xfrm>
          <a:prstGeom prst="rect">
            <a:avLst/>
          </a:prstGeom>
          <a:noFill/>
          <a:ln/>
        </p:spPr>
        <p:txBody>
          <a:bodyPr wrap="square" lIns="0" tIns="0" rIns="0" bIns="0" rtlCol="0" anchor="ctr"/>
          <a:lstStyle/>
          <a:p>
            <a:pPr marL="0" indent="0">
              <a:buNone/>
            </a:pPr>
            <a:r>
              <a:rPr lang="en-US" sz="1000" b="1" dirty="0">
                <a:solidFill>
                  <a:srgbClr val="2E86DE"/>
                </a:solidFill>
                <a:latin typeface="Calibri" pitchFamily="34" charset="0"/>
                <a:ea typeface="Calibri" pitchFamily="34" charset="-122"/>
                <a:cs typeface="Calibri" pitchFamily="34" charset="-120"/>
              </a:rPr>
              <a:t>Dylan Trenck</a:t>
            </a:r>
            <a:endParaRPr lang="en-US" sz="1000" dirty="0"/>
          </a:p>
        </p:txBody>
      </p:sp>
      <p:sp>
        <p:nvSpPr>
          <p:cNvPr id="16" name="Text 11"/>
          <p:cNvSpPr/>
          <p:nvPr/>
        </p:nvSpPr>
        <p:spPr>
          <a:xfrm>
            <a:off x="1143000" y="1965960"/>
            <a:ext cx="4572000" cy="219456"/>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History of iOS</a:t>
            </a:r>
            <a:endParaRPr lang="en-US" sz="1400" dirty="0"/>
          </a:p>
        </p:txBody>
      </p:sp>
      <p:sp>
        <p:nvSpPr>
          <p:cNvPr id="17" name="Text 12"/>
          <p:cNvSpPr/>
          <p:nvPr/>
        </p:nvSpPr>
        <p:spPr>
          <a:xfrm>
            <a:off x="6858000" y="1828800"/>
            <a:ext cx="1554480" cy="310896"/>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Slides 8–12</a:t>
            </a:r>
            <a:endParaRPr lang="en-US" sz="1100" dirty="0"/>
          </a:p>
        </p:txBody>
      </p:sp>
      <p:sp>
        <p:nvSpPr>
          <p:cNvPr id="18" name="Shape 13"/>
          <p:cNvSpPr/>
          <p:nvPr/>
        </p:nvSpPr>
        <p:spPr>
          <a:xfrm>
            <a:off x="548640" y="233172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685800" y="2423160"/>
            <a:ext cx="310896" cy="310896"/>
          </a:xfrm>
          <a:prstGeom prst="rect">
            <a:avLst/>
          </a:prstGeom>
        </p:spPr>
      </p:pic>
      <p:sp>
        <p:nvSpPr>
          <p:cNvPr id="20" name="Text 14"/>
          <p:cNvSpPr/>
          <p:nvPr/>
        </p:nvSpPr>
        <p:spPr>
          <a:xfrm>
            <a:off x="1143000" y="2368296"/>
            <a:ext cx="2011680" cy="182880"/>
          </a:xfrm>
          <a:prstGeom prst="rect">
            <a:avLst/>
          </a:prstGeom>
          <a:noFill/>
          <a:ln/>
        </p:spPr>
        <p:txBody>
          <a:bodyPr wrap="square" lIns="0" tIns="0" rIns="0" bIns="0" rtlCol="0" anchor="ctr"/>
          <a:lstStyle/>
          <a:p>
            <a:pPr marL="0" indent="0">
              <a:buNone/>
            </a:pPr>
            <a:r>
              <a:rPr lang="en-US" sz="1000" b="1" dirty="0">
                <a:solidFill>
                  <a:srgbClr val="2E86DE"/>
                </a:solidFill>
                <a:latin typeface="Calibri" pitchFamily="34" charset="0"/>
                <a:ea typeface="Calibri" pitchFamily="34" charset="-122"/>
                <a:cs typeface="Calibri" pitchFamily="34" charset="-120"/>
              </a:rPr>
              <a:t>Christopher Lu</a:t>
            </a:r>
            <a:endParaRPr lang="en-US" sz="1000" dirty="0"/>
          </a:p>
        </p:txBody>
      </p:sp>
      <p:sp>
        <p:nvSpPr>
          <p:cNvPr id="21" name="Text 15"/>
          <p:cNvSpPr/>
          <p:nvPr/>
        </p:nvSpPr>
        <p:spPr>
          <a:xfrm>
            <a:off x="1143000" y="2560320"/>
            <a:ext cx="4572000" cy="219456"/>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Architecture</a:t>
            </a:r>
            <a:endParaRPr lang="en-US" sz="1400" dirty="0"/>
          </a:p>
        </p:txBody>
      </p:sp>
      <p:sp>
        <p:nvSpPr>
          <p:cNvPr id="22" name="Text 16"/>
          <p:cNvSpPr/>
          <p:nvPr/>
        </p:nvSpPr>
        <p:spPr>
          <a:xfrm>
            <a:off x="6858000" y="2423160"/>
            <a:ext cx="1554480" cy="310896"/>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Slides 13–17</a:t>
            </a:r>
            <a:endParaRPr lang="en-US" sz="1100" dirty="0"/>
          </a:p>
        </p:txBody>
      </p:sp>
      <p:sp>
        <p:nvSpPr>
          <p:cNvPr id="23" name="Shape 17"/>
          <p:cNvSpPr/>
          <p:nvPr/>
        </p:nvSpPr>
        <p:spPr>
          <a:xfrm>
            <a:off x="548640" y="292608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24" name="Image 4" descr="preencoded.png"/>
          <p:cNvPicPr>
            <a:picLocks noChangeAspect="1"/>
          </p:cNvPicPr>
          <p:nvPr/>
        </p:nvPicPr>
        <p:blipFill>
          <a:blip r:embed="rId7"/>
          <a:stretch>
            <a:fillRect/>
          </a:stretch>
        </p:blipFill>
        <p:spPr>
          <a:xfrm>
            <a:off x="685800" y="3017520"/>
            <a:ext cx="310896" cy="310896"/>
          </a:xfrm>
          <a:prstGeom prst="rect">
            <a:avLst/>
          </a:prstGeom>
        </p:spPr>
      </p:pic>
      <p:sp>
        <p:nvSpPr>
          <p:cNvPr id="25" name="Text 18"/>
          <p:cNvSpPr/>
          <p:nvPr/>
        </p:nvSpPr>
        <p:spPr>
          <a:xfrm>
            <a:off x="1143000" y="2962656"/>
            <a:ext cx="2011680" cy="182880"/>
          </a:xfrm>
          <a:prstGeom prst="rect">
            <a:avLst/>
          </a:prstGeom>
          <a:noFill/>
          <a:ln/>
        </p:spPr>
        <p:txBody>
          <a:bodyPr wrap="square" lIns="0" tIns="0" rIns="0" bIns="0" rtlCol="0" anchor="ctr"/>
          <a:lstStyle/>
          <a:p>
            <a:pPr marL="0" indent="0">
              <a:buNone/>
            </a:pPr>
            <a:r>
              <a:rPr lang="en-US" sz="1000" b="1" dirty="0">
                <a:solidFill>
                  <a:srgbClr val="2E86DE"/>
                </a:solidFill>
                <a:latin typeface="Calibri" pitchFamily="34" charset="0"/>
                <a:ea typeface="Calibri" pitchFamily="34" charset="-122"/>
                <a:cs typeface="Calibri" pitchFamily="34" charset="-120"/>
              </a:rPr>
              <a:t>Mohamed Abdou</a:t>
            </a:r>
            <a:endParaRPr lang="en-US" sz="1000" dirty="0"/>
          </a:p>
        </p:txBody>
      </p:sp>
      <p:sp>
        <p:nvSpPr>
          <p:cNvPr id="26" name="Text 19"/>
          <p:cNvSpPr/>
          <p:nvPr/>
        </p:nvSpPr>
        <p:spPr>
          <a:xfrm>
            <a:off x="1143000" y="3154680"/>
            <a:ext cx="4572000" cy="219456"/>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Features</a:t>
            </a:r>
            <a:endParaRPr lang="en-US" sz="1400" dirty="0"/>
          </a:p>
        </p:txBody>
      </p:sp>
      <p:sp>
        <p:nvSpPr>
          <p:cNvPr id="27" name="Text 20"/>
          <p:cNvSpPr/>
          <p:nvPr/>
        </p:nvSpPr>
        <p:spPr>
          <a:xfrm>
            <a:off x="6858000" y="3017520"/>
            <a:ext cx="1554480" cy="310896"/>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Slides 18–22</a:t>
            </a:r>
            <a:endParaRPr lang="en-US" sz="1100" dirty="0"/>
          </a:p>
        </p:txBody>
      </p:sp>
      <p:sp>
        <p:nvSpPr>
          <p:cNvPr id="28" name="Shape 21"/>
          <p:cNvSpPr/>
          <p:nvPr/>
        </p:nvSpPr>
        <p:spPr>
          <a:xfrm>
            <a:off x="548640" y="352044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29" name="Image 5" descr="preencoded.png"/>
          <p:cNvPicPr>
            <a:picLocks noChangeAspect="1"/>
          </p:cNvPicPr>
          <p:nvPr/>
        </p:nvPicPr>
        <p:blipFill>
          <a:blip r:embed="rId8"/>
          <a:stretch>
            <a:fillRect/>
          </a:stretch>
        </p:blipFill>
        <p:spPr>
          <a:xfrm>
            <a:off x="685800" y="3611880"/>
            <a:ext cx="310896" cy="310896"/>
          </a:xfrm>
          <a:prstGeom prst="rect">
            <a:avLst/>
          </a:prstGeom>
        </p:spPr>
      </p:pic>
      <p:sp>
        <p:nvSpPr>
          <p:cNvPr id="30" name="Text 22"/>
          <p:cNvSpPr/>
          <p:nvPr/>
        </p:nvSpPr>
        <p:spPr>
          <a:xfrm>
            <a:off x="1143000" y="3557016"/>
            <a:ext cx="2011680" cy="182880"/>
          </a:xfrm>
          <a:prstGeom prst="rect">
            <a:avLst/>
          </a:prstGeom>
          <a:noFill/>
          <a:ln/>
        </p:spPr>
        <p:txBody>
          <a:bodyPr wrap="square" lIns="0" tIns="0" rIns="0" bIns="0" rtlCol="0" anchor="ctr"/>
          <a:lstStyle/>
          <a:p>
            <a:pPr marL="0" indent="0">
              <a:buNone/>
            </a:pPr>
            <a:r>
              <a:rPr lang="en-US" sz="1000" b="1" dirty="0">
                <a:solidFill>
                  <a:srgbClr val="2E86DE"/>
                </a:solidFill>
                <a:latin typeface="Calibri" pitchFamily="34" charset="0"/>
                <a:ea typeface="Calibri" pitchFamily="34" charset="-122"/>
                <a:cs typeface="Calibri" pitchFamily="34" charset="-120"/>
              </a:rPr>
              <a:t>Matthew Bosworth</a:t>
            </a:r>
            <a:endParaRPr lang="en-US" sz="1000" dirty="0"/>
          </a:p>
        </p:txBody>
      </p:sp>
      <p:sp>
        <p:nvSpPr>
          <p:cNvPr id="31" name="Text 23"/>
          <p:cNvSpPr/>
          <p:nvPr/>
        </p:nvSpPr>
        <p:spPr>
          <a:xfrm>
            <a:off x="1143000" y="3749040"/>
            <a:ext cx="4572000" cy="219456"/>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Security</a:t>
            </a:r>
            <a:endParaRPr lang="en-US" sz="1400" dirty="0"/>
          </a:p>
        </p:txBody>
      </p:sp>
      <p:sp>
        <p:nvSpPr>
          <p:cNvPr id="32" name="Text 24"/>
          <p:cNvSpPr/>
          <p:nvPr/>
        </p:nvSpPr>
        <p:spPr>
          <a:xfrm>
            <a:off x="6858000" y="3611880"/>
            <a:ext cx="1554480" cy="310896"/>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Slides 23–27</a:t>
            </a:r>
            <a:endParaRPr lang="en-US" sz="1100" dirty="0"/>
          </a:p>
        </p:txBody>
      </p:sp>
      <p:sp>
        <p:nvSpPr>
          <p:cNvPr id="33" name="Shape 25"/>
          <p:cNvSpPr/>
          <p:nvPr/>
        </p:nvSpPr>
        <p:spPr>
          <a:xfrm>
            <a:off x="548640" y="411480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34" name="Image 6" descr="preencoded.png"/>
          <p:cNvPicPr>
            <a:picLocks noChangeAspect="1"/>
          </p:cNvPicPr>
          <p:nvPr/>
        </p:nvPicPr>
        <p:blipFill>
          <a:blip r:embed="rId9"/>
          <a:stretch>
            <a:fillRect/>
          </a:stretch>
        </p:blipFill>
        <p:spPr>
          <a:xfrm>
            <a:off x="685800" y="4206240"/>
            <a:ext cx="310896" cy="310896"/>
          </a:xfrm>
          <a:prstGeom prst="rect">
            <a:avLst/>
          </a:prstGeom>
        </p:spPr>
      </p:pic>
      <p:sp>
        <p:nvSpPr>
          <p:cNvPr id="35" name="Text 26"/>
          <p:cNvSpPr/>
          <p:nvPr/>
        </p:nvSpPr>
        <p:spPr>
          <a:xfrm>
            <a:off x="1143000" y="4151376"/>
            <a:ext cx="2011680" cy="182880"/>
          </a:xfrm>
          <a:prstGeom prst="rect">
            <a:avLst/>
          </a:prstGeom>
          <a:noFill/>
          <a:ln/>
        </p:spPr>
        <p:txBody>
          <a:bodyPr wrap="square" lIns="0" tIns="0" rIns="0" bIns="0" rtlCol="0" anchor="ctr"/>
          <a:lstStyle/>
          <a:p>
            <a:pPr marL="0" indent="0">
              <a:buNone/>
            </a:pPr>
            <a:r>
              <a:rPr lang="en-US" sz="1000" b="1" dirty="0">
                <a:solidFill>
                  <a:srgbClr val="2E86DE"/>
                </a:solidFill>
                <a:latin typeface="Calibri" pitchFamily="34" charset="0"/>
                <a:ea typeface="Calibri" pitchFamily="34" charset="-122"/>
                <a:cs typeface="Calibri" pitchFamily="34" charset="-120"/>
              </a:rPr>
              <a:t>Suphakrit Jinaongkan</a:t>
            </a:r>
            <a:endParaRPr lang="en-US" sz="1000" dirty="0"/>
          </a:p>
        </p:txBody>
      </p:sp>
      <p:sp>
        <p:nvSpPr>
          <p:cNvPr id="36" name="Text 27"/>
          <p:cNvSpPr/>
          <p:nvPr/>
        </p:nvSpPr>
        <p:spPr>
          <a:xfrm>
            <a:off x="1143000" y="4343400"/>
            <a:ext cx="4572000" cy="219456"/>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Future of iOS</a:t>
            </a:r>
            <a:endParaRPr lang="en-US" sz="1400" dirty="0"/>
          </a:p>
        </p:txBody>
      </p:sp>
      <p:sp>
        <p:nvSpPr>
          <p:cNvPr id="37" name="Text 28"/>
          <p:cNvSpPr/>
          <p:nvPr/>
        </p:nvSpPr>
        <p:spPr>
          <a:xfrm>
            <a:off x="6858000" y="4206240"/>
            <a:ext cx="1554480" cy="310896"/>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Slides 28–30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1463040"/>
            <a:ext cx="502920" cy="502920"/>
          </a:xfrm>
          <a:prstGeom prst="rect">
            <a:avLst/>
          </a:prstGeom>
        </p:spPr>
      </p:pic>
      <p:sp>
        <p:nvSpPr>
          <p:cNvPr id="4" name="Text 1"/>
          <p:cNvSpPr/>
          <p:nvPr/>
        </p:nvSpPr>
        <p:spPr>
          <a:xfrm>
            <a:off x="1371600" y="13716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What is iOS?</a:t>
            </a:r>
            <a:endParaRPr lang="en-US" sz="3200" dirty="0"/>
          </a:p>
        </p:txBody>
      </p:sp>
      <p:sp>
        <p:nvSpPr>
          <p:cNvPr id="5" name="Text 2"/>
          <p:cNvSpPr/>
          <p:nvPr/>
        </p:nvSpPr>
        <p:spPr>
          <a:xfrm>
            <a:off x="640080" y="2286000"/>
            <a:ext cx="7863840" cy="457200"/>
          </a:xfrm>
          <a:prstGeom prst="rect">
            <a:avLst/>
          </a:prstGeom>
          <a:noFill/>
          <a:ln/>
        </p:spPr>
        <p:txBody>
          <a:bodyPr wrap="square" lIns="0" tIns="0" rIns="0" bIns="0" rtlCol="0" anchor="ctr"/>
          <a:lstStyle/>
          <a:p>
            <a:pPr marL="0" indent="0">
              <a:buNone/>
            </a:pPr>
            <a:r>
              <a:rPr lang="en-US" sz="1600" dirty="0">
                <a:solidFill>
                  <a:srgbClr val="54A0FF"/>
                </a:solidFill>
                <a:latin typeface="Calibri" pitchFamily="34" charset="0"/>
                <a:ea typeface="Calibri" pitchFamily="34" charset="-122"/>
                <a:cs typeface="Calibri" pitchFamily="34" charset="-120"/>
              </a:rPr>
              <a:t>Understanding Apple's mobile operating system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What is iOS?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What is iOS? – Zarah Maullon</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30</a:t>
            </a:r>
            <a:endParaRPr lang="en-US" sz="900" dirty="0"/>
          </a:p>
        </p:txBody>
      </p:sp>
      <p:sp>
        <p:nvSpPr>
          <p:cNvPr id="8" name="Shape 5"/>
          <p:cNvSpPr/>
          <p:nvPr/>
        </p:nvSpPr>
        <p:spPr>
          <a:xfrm>
            <a:off x="457200" y="1097280"/>
            <a:ext cx="5029200" cy="3291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234440"/>
            <a:ext cx="457200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iOS is the operating system that runs on Apple's iPhone.</a:t>
            </a:r>
            <a:endParaRPr lang="en-US" sz="1600" dirty="0"/>
          </a:p>
        </p:txBody>
      </p:sp>
      <p:sp>
        <p:nvSpPr>
          <p:cNvPr id="10" name="Text 7"/>
          <p:cNvSpPr/>
          <p:nvPr/>
        </p:nvSpPr>
        <p:spPr>
          <a:xfrm>
            <a:off x="685800" y="1691640"/>
            <a:ext cx="4572000" cy="24688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Developed by Apple Inc., first released in 2007 alongside the original iPhone</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Based on Darwin, a Unix-like kernel (same foundation as macOS)</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Designed specifically for touchscreen mobile devices</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Originally called "iPhone OS" — renamed to "iOS" in 2010</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Powers iPhones, and previously iPod Touch (discontinued 2022)</a:t>
            </a:r>
            <a:endParaRPr lang="en-US" sz="1250" dirty="0"/>
          </a:p>
          <a:p>
            <a:pPr marL="342900" indent="-342900">
              <a:buSzPct val="100000"/>
              <a:buChar char="•"/>
            </a:pPr>
            <a:r>
              <a:rPr lang="en-US" sz="1250" dirty="0">
                <a:solidFill>
                  <a:srgbClr val="1E293B"/>
                </a:solidFill>
                <a:latin typeface="Calibri" pitchFamily="34" charset="0"/>
                <a:ea typeface="Calibri" pitchFamily="34" charset="-122"/>
                <a:cs typeface="Calibri" pitchFamily="34" charset="-120"/>
              </a:rPr>
              <a:t>iPad now runs a separate OS called iPadOS (since 2019)</a:t>
            </a:r>
            <a:endParaRPr lang="en-US" sz="1250" dirty="0"/>
          </a:p>
        </p:txBody>
      </p:sp>
      <p:sp>
        <p:nvSpPr>
          <p:cNvPr id="11" name="Shape 8"/>
          <p:cNvSpPr/>
          <p:nvPr/>
        </p:nvSpPr>
        <p:spPr>
          <a:xfrm>
            <a:off x="5760720" y="1097280"/>
            <a:ext cx="292608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5760720" y="1188720"/>
            <a:ext cx="2926080" cy="640080"/>
          </a:xfrm>
          <a:prstGeom prst="rect">
            <a:avLst/>
          </a:prstGeom>
          <a:noFill/>
          <a:ln/>
        </p:spPr>
        <p:txBody>
          <a:bodyPr wrap="square" lIns="0" tIns="0" rIns="0" bIns="0" rtlCol="0" anchor="ctr"/>
          <a:lstStyle/>
          <a:p>
            <a:pPr marL="0" indent="0" algn="ctr">
              <a:buNone/>
            </a:pPr>
            <a:r>
              <a:rPr lang="en-US" sz="4200" b="1" dirty="0">
                <a:solidFill>
                  <a:srgbClr val="2E86DE"/>
                </a:solidFill>
                <a:latin typeface="Trebuchet MS" pitchFamily="34" charset="0"/>
                <a:ea typeface="Trebuchet MS" pitchFamily="34" charset="-122"/>
                <a:cs typeface="Trebuchet MS" pitchFamily="34" charset="-120"/>
              </a:rPr>
              <a:t>2B+</a:t>
            </a:r>
            <a:endParaRPr lang="en-US" sz="4200" dirty="0"/>
          </a:p>
        </p:txBody>
      </p:sp>
      <p:sp>
        <p:nvSpPr>
          <p:cNvPr id="13" name="Text 10"/>
          <p:cNvSpPr/>
          <p:nvPr/>
        </p:nvSpPr>
        <p:spPr>
          <a:xfrm>
            <a:off x="5760720" y="1828800"/>
            <a:ext cx="292608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Active Apple devices</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worldwide</a:t>
            </a:r>
            <a:endParaRPr lang="en-US" sz="1200" dirty="0"/>
          </a:p>
        </p:txBody>
      </p:sp>
      <p:sp>
        <p:nvSpPr>
          <p:cNvPr id="14" name="Shape 11"/>
          <p:cNvSpPr/>
          <p:nvPr/>
        </p:nvSpPr>
        <p:spPr>
          <a:xfrm>
            <a:off x="5760720" y="2834640"/>
            <a:ext cx="292608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Text 12"/>
          <p:cNvSpPr/>
          <p:nvPr/>
        </p:nvSpPr>
        <p:spPr>
          <a:xfrm>
            <a:off x="5760720" y="2926080"/>
            <a:ext cx="2926080" cy="640080"/>
          </a:xfrm>
          <a:prstGeom prst="rect">
            <a:avLst/>
          </a:prstGeom>
          <a:noFill/>
          <a:ln/>
        </p:spPr>
        <p:txBody>
          <a:bodyPr wrap="square" lIns="0" tIns="0" rIns="0" bIns="0" rtlCol="0" anchor="ctr"/>
          <a:lstStyle/>
          <a:p>
            <a:pPr marL="0" indent="0" algn="ctr">
              <a:buNone/>
            </a:pPr>
            <a:r>
              <a:rPr lang="en-US" sz="4200" b="1" dirty="0">
                <a:solidFill>
                  <a:srgbClr val="2E86DE"/>
                </a:solidFill>
                <a:latin typeface="Trebuchet MS" pitchFamily="34" charset="0"/>
                <a:ea typeface="Trebuchet MS" pitchFamily="34" charset="-122"/>
                <a:cs typeface="Trebuchet MS" pitchFamily="34" charset="-120"/>
              </a:rPr>
              <a:t>~28%</a:t>
            </a:r>
            <a:endParaRPr lang="en-US" sz="4200" dirty="0"/>
          </a:p>
        </p:txBody>
      </p:sp>
      <p:sp>
        <p:nvSpPr>
          <p:cNvPr id="16" name="Text 13"/>
          <p:cNvSpPr/>
          <p:nvPr/>
        </p:nvSpPr>
        <p:spPr>
          <a:xfrm>
            <a:off x="5760720" y="3566160"/>
            <a:ext cx="292608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Global mobile OS</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market share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iOS vs Android</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What is iOS? – Zarah Maullon</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30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84048">
                <a:tc>
                  <a:txBody>
                    <a:bodyP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Feature</a:t>
                      </a:r>
                      <a:endParaRPr lang="en-US" sz="1200" dirty="0">
                        <a:latin typeface="Trebuchet MS" charset="0"/>
                        <a:ea typeface="Trebuchet MS" charset="0"/>
                        <a:cs typeface="Trebuchet MS"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iOS</a:t>
                      </a:r>
                      <a:endParaRPr lang="en-US" sz="1200" dirty="0">
                        <a:latin typeface="Trebuchet MS" charset="0"/>
                        <a:ea typeface="Trebuchet MS" charset="0"/>
                        <a:cs typeface="Trebuchet MS"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A1628"/>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Android</a:t>
                      </a:r>
                      <a:endParaRPr lang="en-US" sz="1200" dirty="0">
                        <a:latin typeface="Trebuchet MS" charset="0"/>
                        <a:ea typeface="Trebuchet MS" charset="0"/>
                        <a:cs typeface="Trebuchet MS"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Developer</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Apple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Kernel</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XNU (Darwin)</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Linux</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Source Model</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Closed source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Open source (AOSP)</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Devices</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iPhone only</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Many manufacturers</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App Store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App Store (curated)</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Google Play (open)</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Customization</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Limited</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Highly customizable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Updates</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All devices at once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Varies by manufacturer</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Market Share</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8EEF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Devices That Run iOS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What is iOS? – Zarah Maullon</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30</a:t>
            </a:r>
            <a:endParaRPr lang="en-US" sz="900" dirty="0"/>
          </a:p>
        </p:txBody>
      </p:sp>
      <p:sp>
        <p:nvSpPr>
          <p:cNvPr id="8" name="Shape 5"/>
          <p:cNvSpPr/>
          <p:nvPr/>
        </p:nvSpPr>
        <p:spPr>
          <a:xfrm>
            <a:off x="457200" y="1188720"/>
            <a:ext cx="26060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1325880" y="1417320"/>
            <a:ext cx="731520" cy="731520"/>
          </a:xfrm>
          <a:prstGeom prst="ellipse">
            <a:avLst/>
          </a:prstGeom>
          <a:solidFill>
            <a:srgbClr val="2E86DE"/>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1481328" y="1572768"/>
            <a:ext cx="420624" cy="420624"/>
          </a:xfrm>
          <a:prstGeom prst="rect">
            <a:avLst/>
          </a:prstGeom>
        </p:spPr>
      </p:pic>
      <p:sp>
        <p:nvSpPr>
          <p:cNvPr id="11" name="Text 7"/>
          <p:cNvSpPr/>
          <p:nvPr/>
        </p:nvSpPr>
        <p:spPr>
          <a:xfrm>
            <a:off x="640080" y="2331720"/>
            <a:ext cx="224028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iPhone</a:t>
            </a:r>
            <a:endParaRPr lang="en-US" sz="1500" dirty="0"/>
          </a:p>
        </p:txBody>
      </p:sp>
      <p:sp>
        <p:nvSpPr>
          <p:cNvPr id="12" name="Text 8"/>
          <p:cNvSpPr/>
          <p:nvPr/>
        </p:nvSpPr>
        <p:spPr>
          <a:xfrm>
            <a:off x="640080" y="2697480"/>
            <a:ext cx="2240280" cy="777240"/>
          </a:xfrm>
          <a:prstGeom prst="rect">
            <a:avLst/>
          </a:prstGeom>
          <a:noFill/>
          <a:ln/>
        </p:spPr>
        <p:txBody>
          <a:bodyPr wrap="square" lIns="0" tIns="0" rIns="0" bIns="0"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The main device for iOS.</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From iPhone 1 (2007)</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to iPhone 17 (2025).</a:t>
            </a:r>
            <a:endParaRPr lang="en-US" sz="1150" dirty="0"/>
          </a:p>
        </p:txBody>
      </p:sp>
      <p:sp>
        <p:nvSpPr>
          <p:cNvPr id="13" name="Shape 9"/>
          <p:cNvSpPr/>
          <p:nvPr/>
        </p:nvSpPr>
        <p:spPr>
          <a:xfrm>
            <a:off x="3291840" y="1188720"/>
            <a:ext cx="26060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0"/>
          <p:cNvSpPr/>
          <p:nvPr/>
        </p:nvSpPr>
        <p:spPr>
          <a:xfrm>
            <a:off x="4160520" y="1417320"/>
            <a:ext cx="731520" cy="731520"/>
          </a:xfrm>
          <a:prstGeom prst="ellipse">
            <a:avLst/>
          </a:prstGeom>
          <a:solidFill>
            <a:srgbClr val="2E86DE"/>
          </a:solidFill>
          <a:ln/>
        </p:spPr>
        <p:txBody>
          <a:bodyPr/>
          <a:lstStyle/>
          <a:p>
            <a:endParaRPr lang="en-US"/>
          </a:p>
        </p:txBody>
      </p:sp>
      <p:pic>
        <p:nvPicPr>
          <p:cNvPr id="15" name="Image 2" descr="preencoded.png"/>
          <p:cNvPicPr>
            <a:picLocks noChangeAspect="1"/>
          </p:cNvPicPr>
          <p:nvPr/>
        </p:nvPicPr>
        <p:blipFill>
          <a:blip r:embed="rId4"/>
          <a:stretch>
            <a:fillRect/>
          </a:stretch>
        </p:blipFill>
        <p:spPr>
          <a:xfrm>
            <a:off x="4315968" y="1572768"/>
            <a:ext cx="420624" cy="420624"/>
          </a:xfrm>
          <a:prstGeom prst="rect">
            <a:avLst/>
          </a:prstGeom>
        </p:spPr>
      </p:pic>
      <p:sp>
        <p:nvSpPr>
          <p:cNvPr id="16" name="Text 11"/>
          <p:cNvSpPr/>
          <p:nvPr/>
        </p:nvSpPr>
        <p:spPr>
          <a:xfrm>
            <a:off x="3474720" y="2331720"/>
            <a:ext cx="224028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iPod Touch</a:t>
            </a:r>
            <a:endParaRPr lang="en-US" sz="1500" dirty="0"/>
          </a:p>
        </p:txBody>
      </p:sp>
      <p:sp>
        <p:nvSpPr>
          <p:cNvPr id="17" name="Text 12"/>
          <p:cNvSpPr/>
          <p:nvPr/>
        </p:nvSpPr>
        <p:spPr>
          <a:xfrm>
            <a:off x="3474720" y="2697480"/>
            <a:ext cx="2240280" cy="777240"/>
          </a:xfrm>
          <a:prstGeom prst="rect">
            <a:avLst/>
          </a:prstGeom>
          <a:noFill/>
          <a:ln/>
        </p:spPr>
        <p:txBody>
          <a:bodyPr wrap="square" lIns="0" tIns="0" rIns="0" bIns="0"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Ran iOS from 2007 to 2022.</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Discontinued by Apple.</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No cellular connection.</a:t>
            </a:r>
            <a:endParaRPr lang="en-US" sz="1150" dirty="0"/>
          </a:p>
        </p:txBody>
      </p:sp>
      <p:sp>
        <p:nvSpPr>
          <p:cNvPr id="18" name="Shape 13"/>
          <p:cNvSpPr/>
          <p:nvPr/>
        </p:nvSpPr>
        <p:spPr>
          <a:xfrm>
            <a:off x="6126480" y="1188720"/>
            <a:ext cx="26060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4"/>
          <p:cNvSpPr/>
          <p:nvPr/>
        </p:nvSpPr>
        <p:spPr>
          <a:xfrm>
            <a:off x="6995160" y="1417320"/>
            <a:ext cx="731520" cy="731520"/>
          </a:xfrm>
          <a:prstGeom prst="ellipse">
            <a:avLst/>
          </a:prstGeom>
          <a:solidFill>
            <a:srgbClr val="2E86DE"/>
          </a:solidFill>
          <a:ln/>
        </p:spPr>
        <p:txBody>
          <a:bodyPr/>
          <a:lstStyle/>
          <a:p>
            <a:endParaRPr lang="en-US"/>
          </a:p>
        </p:txBody>
      </p:sp>
      <p:pic>
        <p:nvPicPr>
          <p:cNvPr id="20" name="Image 3" descr="preencoded.png"/>
          <p:cNvPicPr>
            <a:picLocks noChangeAspect="1"/>
          </p:cNvPicPr>
          <p:nvPr/>
        </p:nvPicPr>
        <p:blipFill>
          <a:blip r:embed="rId5"/>
          <a:stretch>
            <a:fillRect/>
          </a:stretch>
        </p:blipFill>
        <p:spPr>
          <a:xfrm>
            <a:off x="7150608" y="1572768"/>
            <a:ext cx="420624" cy="420624"/>
          </a:xfrm>
          <a:prstGeom prst="rect">
            <a:avLst/>
          </a:prstGeom>
        </p:spPr>
      </p:pic>
      <p:sp>
        <p:nvSpPr>
          <p:cNvPr id="21" name="Text 15"/>
          <p:cNvSpPr/>
          <p:nvPr/>
        </p:nvSpPr>
        <p:spPr>
          <a:xfrm>
            <a:off x="6309360" y="2331720"/>
            <a:ext cx="224028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iPad (Past)</a:t>
            </a:r>
            <a:endParaRPr lang="en-US" sz="1500" dirty="0"/>
          </a:p>
        </p:txBody>
      </p:sp>
      <p:sp>
        <p:nvSpPr>
          <p:cNvPr id="22" name="Text 16"/>
          <p:cNvSpPr/>
          <p:nvPr/>
        </p:nvSpPr>
        <p:spPr>
          <a:xfrm>
            <a:off x="6309360" y="2697480"/>
            <a:ext cx="2240280" cy="777240"/>
          </a:xfrm>
          <a:prstGeom prst="rect">
            <a:avLst/>
          </a:prstGeom>
          <a:noFill/>
          <a:ln/>
        </p:spPr>
        <p:txBody>
          <a:bodyPr wrap="square" lIns="0" tIns="0" rIns="0" bIns="0"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Used iOS until 2019.</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Now runs its own OS</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called iPadOS.</a:t>
            </a:r>
            <a:endParaRPr lang="en-US" sz="1150" dirty="0"/>
          </a:p>
        </p:txBody>
      </p:sp>
      <p:sp>
        <p:nvSpPr>
          <p:cNvPr id="23" name="Text 17"/>
          <p:cNvSpPr/>
          <p:nvPr/>
        </p:nvSpPr>
        <p:spPr>
          <a:xfrm>
            <a:off x="457200" y="4023360"/>
            <a:ext cx="8229600" cy="411480"/>
          </a:xfrm>
          <a:prstGeom prst="rect">
            <a:avLst/>
          </a:prstGeom>
          <a:noFill/>
          <a:ln/>
        </p:spPr>
        <p:txBody>
          <a:bodyPr wrap="square" lIns="0" tIns="0" rIns="0" bIns="0" rtlCol="0" anchor="ctr"/>
          <a:lstStyle/>
          <a:p>
            <a:pPr marL="0" indent="0">
              <a:buNone/>
            </a:pPr>
            <a:r>
              <a:rPr lang="en-US" sz="1200" i="1" dirty="0">
                <a:solidFill>
                  <a:srgbClr val="1A4B8C"/>
                </a:solidFill>
                <a:latin typeface="Calibri" pitchFamily="34" charset="0"/>
                <a:ea typeface="Calibri" pitchFamily="34" charset="-122"/>
                <a:cs typeface="Calibri" pitchFamily="34" charset="-120"/>
              </a:rPr>
              <a:t>iOS also powers the software foundation for watchOS (Apple Watch) and tvOS (Apple TV), which share core iOS frameworks.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Why Study iOS in an OS Course?</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What is iOS? – Zarah Maullon</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30</a:t>
            </a:r>
            <a:endParaRPr lang="en-US" sz="900" dirty="0"/>
          </a:p>
        </p:txBody>
      </p:sp>
      <p:sp>
        <p:nvSpPr>
          <p:cNvPr id="8" name="Shape 5"/>
          <p:cNvSpPr/>
          <p:nvPr/>
        </p:nvSpPr>
        <p:spPr>
          <a:xfrm>
            <a:off x="457200" y="1097280"/>
            <a:ext cx="8229600" cy="749808"/>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40080" y="1280160"/>
            <a:ext cx="347472" cy="347472"/>
          </a:xfrm>
          <a:prstGeom prst="rect">
            <a:avLst/>
          </a:prstGeom>
        </p:spPr>
      </p:pic>
      <p:sp>
        <p:nvSpPr>
          <p:cNvPr id="10" name="Text 6"/>
          <p:cNvSpPr/>
          <p:nvPr/>
        </p:nvSpPr>
        <p:spPr>
          <a:xfrm>
            <a:off x="1143000" y="1170432"/>
            <a:ext cx="7315200" cy="256032"/>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Real-World OS</a:t>
            </a:r>
            <a:endParaRPr lang="en-US" sz="1400" dirty="0"/>
          </a:p>
        </p:txBody>
      </p:sp>
      <p:sp>
        <p:nvSpPr>
          <p:cNvPr id="11" name="Text 7"/>
          <p:cNvSpPr/>
          <p:nvPr/>
        </p:nvSpPr>
        <p:spPr>
          <a:xfrm>
            <a:off x="1143000" y="1463040"/>
            <a:ext cx="7315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iOS is a full operating system with process management, memory management, file systems, and I/O — all core OS concepts.</a:t>
            </a:r>
            <a:endParaRPr lang="en-US" sz="1200" dirty="0"/>
          </a:p>
        </p:txBody>
      </p:sp>
      <p:sp>
        <p:nvSpPr>
          <p:cNvPr id="12" name="Shape 8"/>
          <p:cNvSpPr/>
          <p:nvPr/>
        </p:nvSpPr>
        <p:spPr>
          <a:xfrm>
            <a:off x="457200" y="1965960"/>
            <a:ext cx="8229600" cy="749808"/>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13" name="Image 2" descr="preencoded.png"/>
          <p:cNvPicPr>
            <a:picLocks noChangeAspect="1"/>
          </p:cNvPicPr>
          <p:nvPr/>
        </p:nvPicPr>
        <p:blipFill>
          <a:blip r:embed="rId4"/>
          <a:stretch>
            <a:fillRect/>
          </a:stretch>
        </p:blipFill>
        <p:spPr>
          <a:xfrm>
            <a:off x="640080" y="2148840"/>
            <a:ext cx="347472" cy="347472"/>
          </a:xfrm>
          <a:prstGeom prst="rect">
            <a:avLst/>
          </a:prstGeom>
        </p:spPr>
      </p:pic>
      <p:sp>
        <p:nvSpPr>
          <p:cNvPr id="14" name="Text 9"/>
          <p:cNvSpPr/>
          <p:nvPr/>
        </p:nvSpPr>
        <p:spPr>
          <a:xfrm>
            <a:off x="1143000" y="2039112"/>
            <a:ext cx="7315200" cy="256032"/>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Unix Foundation</a:t>
            </a:r>
            <a:endParaRPr lang="en-US" sz="1400" dirty="0"/>
          </a:p>
        </p:txBody>
      </p:sp>
      <p:sp>
        <p:nvSpPr>
          <p:cNvPr id="15" name="Text 10"/>
          <p:cNvSpPr/>
          <p:nvPr/>
        </p:nvSpPr>
        <p:spPr>
          <a:xfrm>
            <a:off x="1143000" y="2331720"/>
            <a:ext cx="7315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Built on Darwin/XNU kernel, giving it direct ties to Unix concepts covered in this course.</a:t>
            </a:r>
            <a:endParaRPr lang="en-US" sz="1200" dirty="0"/>
          </a:p>
        </p:txBody>
      </p:sp>
      <p:sp>
        <p:nvSpPr>
          <p:cNvPr id="16" name="Shape 11"/>
          <p:cNvSpPr/>
          <p:nvPr/>
        </p:nvSpPr>
        <p:spPr>
          <a:xfrm>
            <a:off x="457200" y="2834640"/>
            <a:ext cx="8229600" cy="749808"/>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17" name="Image 3" descr="preencoded.png"/>
          <p:cNvPicPr>
            <a:picLocks noChangeAspect="1"/>
          </p:cNvPicPr>
          <p:nvPr/>
        </p:nvPicPr>
        <p:blipFill>
          <a:blip r:embed="rId4"/>
          <a:stretch>
            <a:fillRect/>
          </a:stretch>
        </p:blipFill>
        <p:spPr>
          <a:xfrm>
            <a:off x="640080" y="3017520"/>
            <a:ext cx="347472" cy="347472"/>
          </a:xfrm>
          <a:prstGeom prst="rect">
            <a:avLst/>
          </a:prstGeom>
        </p:spPr>
      </p:pic>
      <p:sp>
        <p:nvSpPr>
          <p:cNvPr id="18" name="Text 12"/>
          <p:cNvSpPr/>
          <p:nvPr/>
        </p:nvSpPr>
        <p:spPr>
          <a:xfrm>
            <a:off x="1143000" y="2907792"/>
            <a:ext cx="7315200" cy="256032"/>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Security Model</a:t>
            </a:r>
            <a:endParaRPr lang="en-US" sz="1400" dirty="0"/>
          </a:p>
        </p:txBody>
      </p:sp>
      <p:sp>
        <p:nvSpPr>
          <p:cNvPr id="19" name="Text 13"/>
          <p:cNvSpPr/>
          <p:nvPr/>
        </p:nvSpPr>
        <p:spPr>
          <a:xfrm>
            <a:off x="1143000" y="3200400"/>
            <a:ext cx="7315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Showcases sandboxing, permissions, and secure boot — key OS security topics.</a:t>
            </a:r>
            <a:endParaRPr lang="en-US" sz="1200" dirty="0"/>
          </a:p>
        </p:txBody>
      </p:sp>
      <p:sp>
        <p:nvSpPr>
          <p:cNvPr id="20" name="Shape 14"/>
          <p:cNvSpPr/>
          <p:nvPr/>
        </p:nvSpPr>
        <p:spPr>
          <a:xfrm>
            <a:off x="457200" y="3703320"/>
            <a:ext cx="8229600" cy="749808"/>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pic>
        <p:nvPicPr>
          <p:cNvPr id="21" name="Image 4" descr="preencoded.png"/>
          <p:cNvPicPr>
            <a:picLocks noChangeAspect="1"/>
          </p:cNvPicPr>
          <p:nvPr/>
        </p:nvPicPr>
        <p:blipFill>
          <a:blip r:embed="rId4"/>
          <a:stretch>
            <a:fillRect/>
          </a:stretch>
        </p:blipFill>
        <p:spPr>
          <a:xfrm>
            <a:off x="640080" y="3886200"/>
            <a:ext cx="347472" cy="347472"/>
          </a:xfrm>
          <a:prstGeom prst="rect">
            <a:avLst/>
          </a:prstGeom>
        </p:spPr>
      </p:pic>
      <p:sp>
        <p:nvSpPr>
          <p:cNvPr id="22" name="Text 15"/>
          <p:cNvSpPr/>
          <p:nvPr/>
        </p:nvSpPr>
        <p:spPr>
          <a:xfrm>
            <a:off x="1143000" y="3776472"/>
            <a:ext cx="7315200" cy="256032"/>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Billions of Users</a:t>
            </a:r>
            <a:endParaRPr lang="en-US" sz="1400" dirty="0"/>
          </a:p>
        </p:txBody>
      </p:sp>
      <p:sp>
        <p:nvSpPr>
          <p:cNvPr id="23" name="Text 16"/>
          <p:cNvSpPr/>
          <p:nvPr/>
        </p:nvSpPr>
        <p:spPr>
          <a:xfrm>
            <a:off x="1143000" y="4069080"/>
            <a:ext cx="7315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Understanding how iOS handles scale, performance, and reliability is valuable for any CS student.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1463040"/>
            <a:ext cx="502920" cy="502920"/>
          </a:xfrm>
          <a:prstGeom prst="rect">
            <a:avLst/>
          </a:prstGeom>
        </p:spPr>
      </p:pic>
      <p:sp>
        <p:nvSpPr>
          <p:cNvPr id="4" name="Text 1"/>
          <p:cNvSpPr/>
          <p:nvPr/>
        </p:nvSpPr>
        <p:spPr>
          <a:xfrm>
            <a:off x="1371600" y="13716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History of iOS</a:t>
            </a:r>
            <a:endParaRPr lang="en-US" sz="3200" dirty="0"/>
          </a:p>
        </p:txBody>
      </p:sp>
      <p:sp>
        <p:nvSpPr>
          <p:cNvPr id="5" name="Text 2"/>
          <p:cNvSpPr/>
          <p:nvPr/>
        </p:nvSpPr>
        <p:spPr>
          <a:xfrm>
            <a:off x="640080" y="2286000"/>
            <a:ext cx="7863840" cy="457200"/>
          </a:xfrm>
          <a:prstGeom prst="rect">
            <a:avLst/>
          </a:prstGeom>
          <a:noFill/>
          <a:ln/>
        </p:spPr>
        <p:txBody>
          <a:bodyPr wrap="square" lIns="0" tIns="0" rIns="0" bIns="0" rtlCol="0" anchor="ctr"/>
          <a:lstStyle/>
          <a:p>
            <a:pPr marL="0" indent="0">
              <a:buNone/>
            </a:pPr>
            <a:r>
              <a:rPr lang="en-US" sz="1600" dirty="0">
                <a:solidFill>
                  <a:srgbClr val="54A0FF"/>
                </a:solidFill>
                <a:latin typeface="Calibri" pitchFamily="34" charset="0"/>
                <a:ea typeface="Calibri" pitchFamily="34" charset="-122"/>
                <a:cs typeface="Calibri" pitchFamily="34" charset="-120"/>
              </a:rPr>
              <a:t>From iPhone OS 1.0 to iOS 26</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The Early Years: 2007 – 2012</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History – Dylan Trenck</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30</a:t>
            </a:r>
            <a:endParaRPr lang="en-US" sz="900" dirty="0"/>
          </a:p>
        </p:txBody>
      </p:sp>
      <p:sp>
        <p:nvSpPr>
          <p:cNvPr id="8" name="Shape 5"/>
          <p:cNvSpPr/>
          <p:nvPr/>
        </p:nvSpPr>
        <p:spPr>
          <a:xfrm>
            <a:off x="457200" y="10515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457200" y="1051560"/>
            <a:ext cx="73152" cy="548640"/>
          </a:xfrm>
          <a:prstGeom prst="rect">
            <a:avLst/>
          </a:prstGeom>
          <a:solidFill>
            <a:srgbClr val="2E86DE"/>
          </a:solidFill>
          <a:ln/>
        </p:spPr>
        <p:txBody>
          <a:bodyPr/>
          <a:lstStyle/>
          <a:p>
            <a:endParaRPr lang="en-US"/>
          </a:p>
        </p:txBody>
      </p:sp>
      <p:sp>
        <p:nvSpPr>
          <p:cNvPr id="10" name="Text 7"/>
          <p:cNvSpPr/>
          <p:nvPr/>
        </p:nvSpPr>
        <p:spPr>
          <a:xfrm>
            <a:off x="685800" y="1097280"/>
            <a:ext cx="640080" cy="45720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2007</a:t>
            </a:r>
            <a:endParaRPr lang="en-US" sz="1400" dirty="0"/>
          </a:p>
        </p:txBody>
      </p:sp>
      <p:sp>
        <p:nvSpPr>
          <p:cNvPr id="11" name="Text 8"/>
          <p:cNvSpPr/>
          <p:nvPr/>
        </p:nvSpPr>
        <p:spPr>
          <a:xfrm>
            <a:off x="1371600" y="109728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iPhone OS 1.0</a:t>
            </a:r>
            <a:endParaRPr lang="en-US" sz="1200" dirty="0"/>
          </a:p>
        </p:txBody>
      </p:sp>
      <p:sp>
        <p:nvSpPr>
          <p:cNvPr id="12" name="Text 9"/>
          <p:cNvSpPr/>
          <p:nvPr/>
        </p:nvSpPr>
        <p:spPr>
          <a:xfrm>
            <a:off x="3108960" y="109728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No App Store, no copy/paste. Web apps only. The beginning.</a:t>
            </a:r>
            <a:endParaRPr lang="en-US" sz="1150" dirty="0"/>
          </a:p>
        </p:txBody>
      </p:sp>
      <p:sp>
        <p:nvSpPr>
          <p:cNvPr id="13" name="Shape 10"/>
          <p:cNvSpPr/>
          <p:nvPr/>
        </p:nvSpPr>
        <p:spPr>
          <a:xfrm>
            <a:off x="457200" y="169164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1"/>
          <p:cNvSpPr/>
          <p:nvPr/>
        </p:nvSpPr>
        <p:spPr>
          <a:xfrm>
            <a:off x="457200" y="1691640"/>
            <a:ext cx="73152" cy="548640"/>
          </a:xfrm>
          <a:prstGeom prst="rect">
            <a:avLst/>
          </a:prstGeom>
          <a:solidFill>
            <a:srgbClr val="2E86DE"/>
          </a:solidFill>
          <a:ln/>
        </p:spPr>
        <p:txBody>
          <a:bodyPr/>
          <a:lstStyle/>
          <a:p>
            <a:endParaRPr lang="en-US"/>
          </a:p>
        </p:txBody>
      </p:sp>
      <p:sp>
        <p:nvSpPr>
          <p:cNvPr id="15" name="Text 12"/>
          <p:cNvSpPr/>
          <p:nvPr/>
        </p:nvSpPr>
        <p:spPr>
          <a:xfrm>
            <a:off x="685800" y="1737360"/>
            <a:ext cx="640080" cy="45720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2008</a:t>
            </a:r>
            <a:endParaRPr lang="en-US" sz="1400" dirty="0"/>
          </a:p>
        </p:txBody>
      </p:sp>
      <p:sp>
        <p:nvSpPr>
          <p:cNvPr id="16" name="Text 13"/>
          <p:cNvSpPr/>
          <p:nvPr/>
        </p:nvSpPr>
        <p:spPr>
          <a:xfrm>
            <a:off x="1371600" y="173736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iPhone OS 2.0</a:t>
            </a:r>
            <a:endParaRPr lang="en-US" sz="1200" dirty="0"/>
          </a:p>
        </p:txBody>
      </p:sp>
      <p:sp>
        <p:nvSpPr>
          <p:cNvPr id="17" name="Text 14"/>
          <p:cNvSpPr/>
          <p:nvPr/>
        </p:nvSpPr>
        <p:spPr>
          <a:xfrm>
            <a:off x="3108960" y="173736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App Store launches — 500 apps on day one. Third-party development begins.</a:t>
            </a:r>
            <a:endParaRPr lang="en-US" sz="1150" dirty="0"/>
          </a:p>
        </p:txBody>
      </p:sp>
      <p:sp>
        <p:nvSpPr>
          <p:cNvPr id="18" name="Shape 15"/>
          <p:cNvSpPr/>
          <p:nvPr/>
        </p:nvSpPr>
        <p:spPr>
          <a:xfrm>
            <a:off x="457200" y="233172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6"/>
          <p:cNvSpPr/>
          <p:nvPr/>
        </p:nvSpPr>
        <p:spPr>
          <a:xfrm>
            <a:off x="457200" y="2331720"/>
            <a:ext cx="73152" cy="548640"/>
          </a:xfrm>
          <a:prstGeom prst="rect">
            <a:avLst/>
          </a:prstGeom>
          <a:solidFill>
            <a:srgbClr val="2E86DE"/>
          </a:solidFill>
          <a:ln/>
        </p:spPr>
        <p:txBody>
          <a:bodyPr/>
          <a:lstStyle/>
          <a:p>
            <a:endParaRPr lang="en-US"/>
          </a:p>
        </p:txBody>
      </p:sp>
      <p:sp>
        <p:nvSpPr>
          <p:cNvPr id="20" name="Text 17"/>
          <p:cNvSpPr/>
          <p:nvPr/>
        </p:nvSpPr>
        <p:spPr>
          <a:xfrm>
            <a:off x="685800" y="2377440"/>
            <a:ext cx="640080" cy="45720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2009</a:t>
            </a:r>
            <a:endParaRPr lang="en-US" sz="1400" dirty="0"/>
          </a:p>
        </p:txBody>
      </p:sp>
      <p:sp>
        <p:nvSpPr>
          <p:cNvPr id="21" name="Text 18"/>
          <p:cNvSpPr/>
          <p:nvPr/>
        </p:nvSpPr>
        <p:spPr>
          <a:xfrm>
            <a:off x="1371600" y="237744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iPhone OS 3.0</a:t>
            </a:r>
            <a:endParaRPr lang="en-US" sz="1200" dirty="0"/>
          </a:p>
        </p:txBody>
      </p:sp>
      <p:sp>
        <p:nvSpPr>
          <p:cNvPr id="22" name="Text 19"/>
          <p:cNvSpPr/>
          <p:nvPr/>
        </p:nvSpPr>
        <p:spPr>
          <a:xfrm>
            <a:off x="3108960" y="237744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Copy/paste, push notifications, Spotlight search, MMS support added.</a:t>
            </a:r>
            <a:endParaRPr lang="en-US" sz="1150" dirty="0"/>
          </a:p>
        </p:txBody>
      </p:sp>
      <p:sp>
        <p:nvSpPr>
          <p:cNvPr id="23" name="Shape 20"/>
          <p:cNvSpPr/>
          <p:nvPr/>
        </p:nvSpPr>
        <p:spPr>
          <a:xfrm>
            <a:off x="457200" y="297180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21"/>
          <p:cNvSpPr/>
          <p:nvPr/>
        </p:nvSpPr>
        <p:spPr>
          <a:xfrm>
            <a:off x="457200" y="2971800"/>
            <a:ext cx="73152" cy="548640"/>
          </a:xfrm>
          <a:prstGeom prst="rect">
            <a:avLst/>
          </a:prstGeom>
          <a:solidFill>
            <a:srgbClr val="2E86DE"/>
          </a:solidFill>
          <a:ln/>
        </p:spPr>
        <p:txBody>
          <a:bodyPr/>
          <a:lstStyle/>
          <a:p>
            <a:endParaRPr lang="en-US"/>
          </a:p>
        </p:txBody>
      </p:sp>
      <p:sp>
        <p:nvSpPr>
          <p:cNvPr id="25" name="Text 22"/>
          <p:cNvSpPr/>
          <p:nvPr/>
        </p:nvSpPr>
        <p:spPr>
          <a:xfrm>
            <a:off x="685800" y="3017520"/>
            <a:ext cx="640080" cy="45720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2010</a:t>
            </a:r>
            <a:endParaRPr lang="en-US" sz="1400" dirty="0"/>
          </a:p>
        </p:txBody>
      </p:sp>
      <p:sp>
        <p:nvSpPr>
          <p:cNvPr id="26" name="Text 23"/>
          <p:cNvSpPr/>
          <p:nvPr/>
        </p:nvSpPr>
        <p:spPr>
          <a:xfrm>
            <a:off x="1371600" y="301752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4</a:t>
            </a:r>
            <a:endParaRPr lang="en-US" sz="1200" dirty="0"/>
          </a:p>
        </p:txBody>
      </p:sp>
      <p:sp>
        <p:nvSpPr>
          <p:cNvPr id="27" name="Text 24"/>
          <p:cNvSpPr/>
          <p:nvPr/>
        </p:nvSpPr>
        <p:spPr>
          <a:xfrm>
            <a:off x="3108960" y="301752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Renamed to 'iOS.' Multitasking, FaceTime, folders, and Game Center.</a:t>
            </a:r>
            <a:endParaRPr lang="en-US" sz="1150" dirty="0"/>
          </a:p>
        </p:txBody>
      </p:sp>
      <p:sp>
        <p:nvSpPr>
          <p:cNvPr id="28" name="Shape 25"/>
          <p:cNvSpPr/>
          <p:nvPr/>
        </p:nvSpPr>
        <p:spPr>
          <a:xfrm>
            <a:off x="457200" y="361188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6"/>
          <p:cNvSpPr/>
          <p:nvPr/>
        </p:nvSpPr>
        <p:spPr>
          <a:xfrm>
            <a:off x="457200" y="3611880"/>
            <a:ext cx="73152" cy="548640"/>
          </a:xfrm>
          <a:prstGeom prst="rect">
            <a:avLst/>
          </a:prstGeom>
          <a:solidFill>
            <a:srgbClr val="2E86DE"/>
          </a:solidFill>
          <a:ln/>
        </p:spPr>
        <p:txBody>
          <a:bodyPr/>
          <a:lstStyle/>
          <a:p>
            <a:endParaRPr lang="en-US"/>
          </a:p>
        </p:txBody>
      </p:sp>
      <p:sp>
        <p:nvSpPr>
          <p:cNvPr id="30" name="Text 27"/>
          <p:cNvSpPr/>
          <p:nvPr/>
        </p:nvSpPr>
        <p:spPr>
          <a:xfrm>
            <a:off x="685800" y="3657600"/>
            <a:ext cx="640080" cy="45720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2011</a:t>
            </a:r>
            <a:endParaRPr lang="en-US" sz="1400" dirty="0"/>
          </a:p>
        </p:txBody>
      </p:sp>
      <p:sp>
        <p:nvSpPr>
          <p:cNvPr id="31" name="Text 28"/>
          <p:cNvSpPr/>
          <p:nvPr/>
        </p:nvSpPr>
        <p:spPr>
          <a:xfrm>
            <a:off x="1371600" y="365760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5</a:t>
            </a:r>
            <a:endParaRPr lang="en-US" sz="1200" dirty="0"/>
          </a:p>
        </p:txBody>
      </p:sp>
      <p:sp>
        <p:nvSpPr>
          <p:cNvPr id="32" name="Text 29"/>
          <p:cNvSpPr/>
          <p:nvPr/>
        </p:nvSpPr>
        <p:spPr>
          <a:xfrm>
            <a:off x="3108960" y="365760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Siri debuts, Notification Center, iMessage, wireless sync with iCloud.</a:t>
            </a:r>
            <a:endParaRPr lang="en-US" sz="1150" dirty="0"/>
          </a:p>
        </p:txBody>
      </p:sp>
      <p:sp>
        <p:nvSpPr>
          <p:cNvPr id="33" name="Shape 30"/>
          <p:cNvSpPr/>
          <p:nvPr/>
        </p:nvSpPr>
        <p:spPr>
          <a:xfrm>
            <a:off x="457200" y="42519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4" name="Shape 31"/>
          <p:cNvSpPr/>
          <p:nvPr/>
        </p:nvSpPr>
        <p:spPr>
          <a:xfrm>
            <a:off x="457200" y="4251960"/>
            <a:ext cx="73152" cy="548640"/>
          </a:xfrm>
          <a:prstGeom prst="rect">
            <a:avLst/>
          </a:prstGeom>
          <a:solidFill>
            <a:srgbClr val="2E86DE"/>
          </a:solidFill>
          <a:ln/>
        </p:spPr>
        <p:txBody>
          <a:bodyPr/>
          <a:lstStyle/>
          <a:p>
            <a:endParaRPr lang="en-US"/>
          </a:p>
        </p:txBody>
      </p:sp>
      <p:sp>
        <p:nvSpPr>
          <p:cNvPr id="35" name="Text 32"/>
          <p:cNvSpPr/>
          <p:nvPr/>
        </p:nvSpPr>
        <p:spPr>
          <a:xfrm>
            <a:off x="685800" y="4297680"/>
            <a:ext cx="640080" cy="45720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2012</a:t>
            </a:r>
            <a:endParaRPr lang="en-US" sz="1400" dirty="0"/>
          </a:p>
        </p:txBody>
      </p:sp>
      <p:sp>
        <p:nvSpPr>
          <p:cNvPr id="36" name="Text 33"/>
          <p:cNvSpPr/>
          <p:nvPr/>
        </p:nvSpPr>
        <p:spPr>
          <a:xfrm>
            <a:off x="1371600" y="429768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6</a:t>
            </a:r>
            <a:endParaRPr lang="en-US" sz="1200" dirty="0"/>
          </a:p>
        </p:txBody>
      </p:sp>
      <p:sp>
        <p:nvSpPr>
          <p:cNvPr id="37" name="Text 34"/>
          <p:cNvSpPr/>
          <p:nvPr/>
        </p:nvSpPr>
        <p:spPr>
          <a:xfrm>
            <a:off x="3108960" y="429768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Apple Maps replaces Google Maps. Passbook app introduced.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The Modern Era: 2013 – 2020</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History – Dylan Trenck</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30</a:t>
            </a:r>
            <a:endParaRPr lang="en-US" sz="900" dirty="0"/>
          </a:p>
        </p:txBody>
      </p:sp>
      <p:sp>
        <p:nvSpPr>
          <p:cNvPr id="8" name="Shape 5"/>
          <p:cNvSpPr/>
          <p:nvPr/>
        </p:nvSpPr>
        <p:spPr>
          <a:xfrm>
            <a:off x="457200" y="10515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457200" y="1051560"/>
            <a:ext cx="73152" cy="548640"/>
          </a:xfrm>
          <a:prstGeom prst="rect">
            <a:avLst/>
          </a:prstGeom>
          <a:solidFill>
            <a:srgbClr val="1A4B8C"/>
          </a:solidFill>
          <a:ln/>
        </p:spPr>
        <p:txBody>
          <a:bodyPr/>
          <a:lstStyle/>
          <a:p>
            <a:endParaRPr lang="en-US"/>
          </a:p>
        </p:txBody>
      </p:sp>
      <p:sp>
        <p:nvSpPr>
          <p:cNvPr id="10" name="Text 7"/>
          <p:cNvSpPr/>
          <p:nvPr/>
        </p:nvSpPr>
        <p:spPr>
          <a:xfrm>
            <a:off x="685800" y="1097280"/>
            <a:ext cx="640080" cy="457200"/>
          </a:xfrm>
          <a:prstGeom prst="rect">
            <a:avLst/>
          </a:prstGeom>
          <a:noFill/>
          <a:ln/>
        </p:spPr>
        <p:txBody>
          <a:bodyPr wrap="square" lIns="0" tIns="0" rIns="0" bIns="0" rtlCol="0" anchor="ctr"/>
          <a:lstStyle/>
          <a:p>
            <a:pPr marL="0" indent="0">
              <a:buNone/>
            </a:pPr>
            <a:r>
              <a:rPr lang="en-US" sz="1400" b="1" dirty="0">
                <a:solidFill>
                  <a:srgbClr val="1A4B8C"/>
                </a:solidFill>
                <a:latin typeface="Trebuchet MS" pitchFamily="34" charset="0"/>
                <a:ea typeface="Trebuchet MS" pitchFamily="34" charset="-122"/>
                <a:cs typeface="Trebuchet MS" pitchFamily="34" charset="-120"/>
              </a:rPr>
              <a:t>2013</a:t>
            </a:r>
            <a:endParaRPr lang="en-US" sz="1400" dirty="0"/>
          </a:p>
        </p:txBody>
      </p:sp>
      <p:sp>
        <p:nvSpPr>
          <p:cNvPr id="11" name="Text 8"/>
          <p:cNvSpPr/>
          <p:nvPr/>
        </p:nvSpPr>
        <p:spPr>
          <a:xfrm>
            <a:off x="1371600" y="109728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7</a:t>
            </a:r>
            <a:endParaRPr lang="en-US" sz="1200" dirty="0"/>
          </a:p>
        </p:txBody>
      </p:sp>
      <p:sp>
        <p:nvSpPr>
          <p:cNvPr id="12" name="Text 9"/>
          <p:cNvSpPr/>
          <p:nvPr/>
        </p:nvSpPr>
        <p:spPr>
          <a:xfrm>
            <a:off x="3108960" y="109728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Flat design revolution by Jony Ive. Control Center. Biggest visual overhaul.</a:t>
            </a:r>
            <a:endParaRPr lang="en-US" sz="1150" dirty="0"/>
          </a:p>
        </p:txBody>
      </p:sp>
      <p:sp>
        <p:nvSpPr>
          <p:cNvPr id="13" name="Shape 10"/>
          <p:cNvSpPr/>
          <p:nvPr/>
        </p:nvSpPr>
        <p:spPr>
          <a:xfrm>
            <a:off x="457200" y="169164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1"/>
          <p:cNvSpPr/>
          <p:nvPr/>
        </p:nvSpPr>
        <p:spPr>
          <a:xfrm>
            <a:off x="457200" y="1691640"/>
            <a:ext cx="73152" cy="548640"/>
          </a:xfrm>
          <a:prstGeom prst="rect">
            <a:avLst/>
          </a:prstGeom>
          <a:solidFill>
            <a:srgbClr val="1A4B8C"/>
          </a:solidFill>
          <a:ln/>
        </p:spPr>
        <p:txBody>
          <a:bodyPr/>
          <a:lstStyle/>
          <a:p>
            <a:endParaRPr lang="en-US"/>
          </a:p>
        </p:txBody>
      </p:sp>
      <p:sp>
        <p:nvSpPr>
          <p:cNvPr id="15" name="Text 12"/>
          <p:cNvSpPr/>
          <p:nvPr/>
        </p:nvSpPr>
        <p:spPr>
          <a:xfrm>
            <a:off x="685800" y="1737360"/>
            <a:ext cx="640080" cy="457200"/>
          </a:xfrm>
          <a:prstGeom prst="rect">
            <a:avLst/>
          </a:prstGeom>
          <a:noFill/>
          <a:ln/>
        </p:spPr>
        <p:txBody>
          <a:bodyPr wrap="square" lIns="0" tIns="0" rIns="0" bIns="0" rtlCol="0" anchor="ctr"/>
          <a:lstStyle/>
          <a:p>
            <a:pPr marL="0" indent="0">
              <a:buNone/>
            </a:pPr>
            <a:r>
              <a:rPr lang="en-US" sz="1400" b="1" dirty="0">
                <a:solidFill>
                  <a:srgbClr val="1A4B8C"/>
                </a:solidFill>
                <a:latin typeface="Trebuchet MS" pitchFamily="34" charset="0"/>
                <a:ea typeface="Trebuchet MS" pitchFamily="34" charset="-122"/>
                <a:cs typeface="Trebuchet MS" pitchFamily="34" charset="-120"/>
              </a:rPr>
              <a:t>2014</a:t>
            </a:r>
            <a:endParaRPr lang="en-US" sz="1400" dirty="0"/>
          </a:p>
        </p:txBody>
      </p:sp>
      <p:sp>
        <p:nvSpPr>
          <p:cNvPr id="16" name="Text 13"/>
          <p:cNvSpPr/>
          <p:nvPr/>
        </p:nvSpPr>
        <p:spPr>
          <a:xfrm>
            <a:off x="1371600" y="173736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8</a:t>
            </a:r>
            <a:endParaRPr lang="en-US" sz="1200" dirty="0"/>
          </a:p>
        </p:txBody>
      </p:sp>
      <p:sp>
        <p:nvSpPr>
          <p:cNvPr id="17" name="Text 14"/>
          <p:cNvSpPr/>
          <p:nvPr/>
        </p:nvSpPr>
        <p:spPr>
          <a:xfrm>
            <a:off x="3108960" y="173736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Widgets, third-party keyboards, HealthKit, HomeKit, extensions system.</a:t>
            </a:r>
            <a:endParaRPr lang="en-US" sz="1150" dirty="0"/>
          </a:p>
        </p:txBody>
      </p:sp>
      <p:sp>
        <p:nvSpPr>
          <p:cNvPr id="18" name="Shape 15"/>
          <p:cNvSpPr/>
          <p:nvPr/>
        </p:nvSpPr>
        <p:spPr>
          <a:xfrm>
            <a:off x="457200" y="233172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6"/>
          <p:cNvSpPr/>
          <p:nvPr/>
        </p:nvSpPr>
        <p:spPr>
          <a:xfrm>
            <a:off x="457200" y="2331720"/>
            <a:ext cx="73152" cy="548640"/>
          </a:xfrm>
          <a:prstGeom prst="rect">
            <a:avLst/>
          </a:prstGeom>
          <a:solidFill>
            <a:srgbClr val="1A4B8C"/>
          </a:solidFill>
          <a:ln/>
        </p:spPr>
        <p:txBody>
          <a:bodyPr/>
          <a:lstStyle/>
          <a:p>
            <a:endParaRPr lang="en-US"/>
          </a:p>
        </p:txBody>
      </p:sp>
      <p:sp>
        <p:nvSpPr>
          <p:cNvPr id="20" name="Text 17"/>
          <p:cNvSpPr/>
          <p:nvPr/>
        </p:nvSpPr>
        <p:spPr>
          <a:xfrm>
            <a:off x="685800" y="2377440"/>
            <a:ext cx="640080" cy="457200"/>
          </a:xfrm>
          <a:prstGeom prst="rect">
            <a:avLst/>
          </a:prstGeom>
          <a:noFill/>
          <a:ln/>
        </p:spPr>
        <p:txBody>
          <a:bodyPr wrap="square" lIns="0" tIns="0" rIns="0" bIns="0" rtlCol="0" anchor="ctr"/>
          <a:lstStyle/>
          <a:p>
            <a:pPr marL="0" indent="0">
              <a:buNone/>
            </a:pPr>
            <a:r>
              <a:rPr lang="en-US" sz="1400" b="1" dirty="0">
                <a:solidFill>
                  <a:srgbClr val="1A4B8C"/>
                </a:solidFill>
                <a:latin typeface="Trebuchet MS" pitchFamily="34" charset="0"/>
                <a:ea typeface="Trebuchet MS" pitchFamily="34" charset="-122"/>
                <a:cs typeface="Trebuchet MS" pitchFamily="34" charset="-120"/>
              </a:rPr>
              <a:t>2015</a:t>
            </a:r>
            <a:endParaRPr lang="en-US" sz="1400" dirty="0"/>
          </a:p>
        </p:txBody>
      </p:sp>
      <p:sp>
        <p:nvSpPr>
          <p:cNvPr id="21" name="Text 18"/>
          <p:cNvSpPr/>
          <p:nvPr/>
        </p:nvSpPr>
        <p:spPr>
          <a:xfrm>
            <a:off x="1371600" y="237744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9</a:t>
            </a:r>
            <a:endParaRPr lang="en-US" sz="1200" dirty="0"/>
          </a:p>
        </p:txBody>
      </p:sp>
      <p:sp>
        <p:nvSpPr>
          <p:cNvPr id="22" name="Text 19"/>
          <p:cNvSpPr/>
          <p:nvPr/>
        </p:nvSpPr>
        <p:spPr>
          <a:xfrm>
            <a:off x="3108960" y="237744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Low Power Mode, split-screen on iPad, intelligence features in search.</a:t>
            </a:r>
            <a:endParaRPr lang="en-US" sz="1150" dirty="0"/>
          </a:p>
        </p:txBody>
      </p:sp>
      <p:sp>
        <p:nvSpPr>
          <p:cNvPr id="23" name="Shape 20"/>
          <p:cNvSpPr/>
          <p:nvPr/>
        </p:nvSpPr>
        <p:spPr>
          <a:xfrm>
            <a:off x="457200" y="297180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21"/>
          <p:cNvSpPr/>
          <p:nvPr/>
        </p:nvSpPr>
        <p:spPr>
          <a:xfrm>
            <a:off x="457200" y="2971800"/>
            <a:ext cx="73152" cy="548640"/>
          </a:xfrm>
          <a:prstGeom prst="rect">
            <a:avLst/>
          </a:prstGeom>
          <a:solidFill>
            <a:srgbClr val="1A4B8C"/>
          </a:solidFill>
          <a:ln/>
        </p:spPr>
        <p:txBody>
          <a:bodyPr/>
          <a:lstStyle/>
          <a:p>
            <a:endParaRPr lang="en-US"/>
          </a:p>
        </p:txBody>
      </p:sp>
      <p:sp>
        <p:nvSpPr>
          <p:cNvPr id="25" name="Text 22"/>
          <p:cNvSpPr/>
          <p:nvPr/>
        </p:nvSpPr>
        <p:spPr>
          <a:xfrm>
            <a:off x="685800" y="3017520"/>
            <a:ext cx="640080" cy="457200"/>
          </a:xfrm>
          <a:prstGeom prst="rect">
            <a:avLst/>
          </a:prstGeom>
          <a:noFill/>
          <a:ln/>
        </p:spPr>
        <p:txBody>
          <a:bodyPr wrap="square" lIns="0" tIns="0" rIns="0" bIns="0" rtlCol="0" anchor="ctr"/>
          <a:lstStyle/>
          <a:p>
            <a:pPr marL="0" indent="0">
              <a:buNone/>
            </a:pPr>
            <a:r>
              <a:rPr lang="en-US" sz="1400" b="1" dirty="0">
                <a:solidFill>
                  <a:srgbClr val="1A4B8C"/>
                </a:solidFill>
                <a:latin typeface="Trebuchet MS" pitchFamily="34" charset="0"/>
                <a:ea typeface="Trebuchet MS" pitchFamily="34" charset="-122"/>
                <a:cs typeface="Trebuchet MS" pitchFamily="34" charset="-120"/>
              </a:rPr>
              <a:t>2016</a:t>
            </a:r>
            <a:endParaRPr lang="en-US" sz="1400" dirty="0"/>
          </a:p>
        </p:txBody>
      </p:sp>
      <p:sp>
        <p:nvSpPr>
          <p:cNvPr id="26" name="Text 23"/>
          <p:cNvSpPr/>
          <p:nvPr/>
        </p:nvSpPr>
        <p:spPr>
          <a:xfrm>
            <a:off x="1371600" y="301752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10</a:t>
            </a:r>
            <a:endParaRPr lang="en-US" sz="1200" dirty="0"/>
          </a:p>
        </p:txBody>
      </p:sp>
      <p:sp>
        <p:nvSpPr>
          <p:cNvPr id="27" name="Text 24"/>
          <p:cNvSpPr/>
          <p:nvPr/>
        </p:nvSpPr>
        <p:spPr>
          <a:xfrm>
            <a:off x="3108960" y="301752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Redesigned lock screen, third-party Siri integration, iMessage apps.</a:t>
            </a:r>
            <a:endParaRPr lang="en-US" sz="1150" dirty="0"/>
          </a:p>
        </p:txBody>
      </p:sp>
      <p:sp>
        <p:nvSpPr>
          <p:cNvPr id="28" name="Shape 25"/>
          <p:cNvSpPr/>
          <p:nvPr/>
        </p:nvSpPr>
        <p:spPr>
          <a:xfrm>
            <a:off x="457200" y="361188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6"/>
          <p:cNvSpPr/>
          <p:nvPr/>
        </p:nvSpPr>
        <p:spPr>
          <a:xfrm>
            <a:off x="457200" y="3611880"/>
            <a:ext cx="73152" cy="548640"/>
          </a:xfrm>
          <a:prstGeom prst="rect">
            <a:avLst/>
          </a:prstGeom>
          <a:solidFill>
            <a:srgbClr val="1A4B8C"/>
          </a:solidFill>
          <a:ln/>
        </p:spPr>
        <p:txBody>
          <a:bodyPr/>
          <a:lstStyle/>
          <a:p>
            <a:endParaRPr lang="en-US"/>
          </a:p>
        </p:txBody>
      </p:sp>
      <p:sp>
        <p:nvSpPr>
          <p:cNvPr id="30" name="Text 27"/>
          <p:cNvSpPr/>
          <p:nvPr/>
        </p:nvSpPr>
        <p:spPr>
          <a:xfrm>
            <a:off x="685800" y="3657600"/>
            <a:ext cx="640080" cy="457200"/>
          </a:xfrm>
          <a:prstGeom prst="rect">
            <a:avLst/>
          </a:prstGeom>
          <a:noFill/>
          <a:ln/>
        </p:spPr>
        <p:txBody>
          <a:bodyPr wrap="square" lIns="0" tIns="0" rIns="0" bIns="0" rtlCol="0" anchor="ctr"/>
          <a:lstStyle/>
          <a:p>
            <a:pPr marL="0" indent="0">
              <a:buNone/>
            </a:pPr>
            <a:r>
              <a:rPr lang="en-US" sz="1400" b="1" dirty="0">
                <a:solidFill>
                  <a:srgbClr val="1A4B8C"/>
                </a:solidFill>
                <a:latin typeface="Trebuchet MS" pitchFamily="34" charset="0"/>
                <a:ea typeface="Trebuchet MS" pitchFamily="34" charset="-122"/>
                <a:cs typeface="Trebuchet MS" pitchFamily="34" charset="-120"/>
              </a:rPr>
              <a:t>2017</a:t>
            </a:r>
            <a:endParaRPr lang="en-US" sz="1400" dirty="0"/>
          </a:p>
        </p:txBody>
      </p:sp>
      <p:sp>
        <p:nvSpPr>
          <p:cNvPr id="31" name="Text 28"/>
          <p:cNvSpPr/>
          <p:nvPr/>
        </p:nvSpPr>
        <p:spPr>
          <a:xfrm>
            <a:off x="1371600" y="365760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11</a:t>
            </a:r>
            <a:endParaRPr lang="en-US" sz="1200" dirty="0"/>
          </a:p>
        </p:txBody>
      </p:sp>
      <p:sp>
        <p:nvSpPr>
          <p:cNvPr id="32" name="Text 29"/>
          <p:cNvSpPr/>
          <p:nvPr/>
        </p:nvSpPr>
        <p:spPr>
          <a:xfrm>
            <a:off x="3108960" y="365760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ARKit (augmented reality), Files app, redesigned Control Center.</a:t>
            </a:r>
            <a:endParaRPr lang="en-US" sz="1150" dirty="0"/>
          </a:p>
        </p:txBody>
      </p:sp>
      <p:sp>
        <p:nvSpPr>
          <p:cNvPr id="33" name="Shape 30"/>
          <p:cNvSpPr/>
          <p:nvPr/>
        </p:nvSpPr>
        <p:spPr>
          <a:xfrm>
            <a:off x="457200" y="42519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4" name="Shape 31"/>
          <p:cNvSpPr/>
          <p:nvPr/>
        </p:nvSpPr>
        <p:spPr>
          <a:xfrm>
            <a:off x="457200" y="4251960"/>
            <a:ext cx="73152" cy="548640"/>
          </a:xfrm>
          <a:prstGeom prst="rect">
            <a:avLst/>
          </a:prstGeom>
          <a:solidFill>
            <a:srgbClr val="1A4B8C"/>
          </a:solidFill>
          <a:ln/>
        </p:spPr>
        <p:txBody>
          <a:bodyPr/>
          <a:lstStyle/>
          <a:p>
            <a:endParaRPr lang="en-US"/>
          </a:p>
        </p:txBody>
      </p:sp>
      <p:sp>
        <p:nvSpPr>
          <p:cNvPr id="35" name="Text 32"/>
          <p:cNvSpPr/>
          <p:nvPr/>
        </p:nvSpPr>
        <p:spPr>
          <a:xfrm>
            <a:off x="685800" y="4297680"/>
            <a:ext cx="640080" cy="457200"/>
          </a:xfrm>
          <a:prstGeom prst="rect">
            <a:avLst/>
          </a:prstGeom>
          <a:noFill/>
          <a:ln/>
        </p:spPr>
        <p:txBody>
          <a:bodyPr wrap="square" lIns="0" tIns="0" rIns="0" bIns="0" rtlCol="0" anchor="ctr"/>
          <a:lstStyle/>
          <a:p>
            <a:pPr marL="0" indent="0">
              <a:buNone/>
            </a:pPr>
            <a:r>
              <a:rPr lang="en-US" sz="1400" b="1" dirty="0">
                <a:solidFill>
                  <a:srgbClr val="1A4B8C"/>
                </a:solidFill>
                <a:latin typeface="Trebuchet MS" pitchFamily="34" charset="0"/>
                <a:ea typeface="Trebuchet MS" pitchFamily="34" charset="-122"/>
                <a:cs typeface="Trebuchet MS" pitchFamily="34" charset="-120"/>
              </a:rPr>
              <a:t>2019</a:t>
            </a:r>
            <a:endParaRPr lang="en-US" sz="1400" dirty="0"/>
          </a:p>
        </p:txBody>
      </p:sp>
      <p:sp>
        <p:nvSpPr>
          <p:cNvPr id="36" name="Text 33"/>
          <p:cNvSpPr/>
          <p:nvPr/>
        </p:nvSpPr>
        <p:spPr>
          <a:xfrm>
            <a:off x="1371600" y="429768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13</a:t>
            </a:r>
            <a:endParaRPr lang="en-US" sz="1200" dirty="0"/>
          </a:p>
        </p:txBody>
      </p:sp>
      <p:sp>
        <p:nvSpPr>
          <p:cNvPr id="37" name="Text 34"/>
          <p:cNvSpPr/>
          <p:nvPr/>
        </p:nvSpPr>
        <p:spPr>
          <a:xfrm>
            <a:off x="3108960" y="429768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Dark Mode, Sign in with Apple, iPadOS splits off as its own platform.</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Recent Years: 2020 – Present</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History – Dylan Trenck</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30</a:t>
            </a:r>
            <a:endParaRPr lang="en-US" sz="900" dirty="0"/>
          </a:p>
        </p:txBody>
      </p:sp>
      <p:sp>
        <p:nvSpPr>
          <p:cNvPr id="8" name="Shape 5"/>
          <p:cNvSpPr/>
          <p:nvPr/>
        </p:nvSpPr>
        <p:spPr>
          <a:xfrm>
            <a:off x="457200" y="10515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457200" y="1051560"/>
            <a:ext cx="73152" cy="548640"/>
          </a:xfrm>
          <a:prstGeom prst="rect">
            <a:avLst/>
          </a:prstGeom>
          <a:solidFill>
            <a:srgbClr val="0ABDE3"/>
          </a:solidFill>
          <a:ln/>
        </p:spPr>
        <p:txBody>
          <a:bodyPr/>
          <a:lstStyle/>
          <a:p>
            <a:endParaRPr lang="en-US"/>
          </a:p>
        </p:txBody>
      </p:sp>
      <p:sp>
        <p:nvSpPr>
          <p:cNvPr id="10" name="Text 7"/>
          <p:cNvSpPr/>
          <p:nvPr/>
        </p:nvSpPr>
        <p:spPr>
          <a:xfrm>
            <a:off x="685800" y="1097280"/>
            <a:ext cx="640080" cy="457200"/>
          </a:xfrm>
          <a:prstGeom prst="rect">
            <a:avLst/>
          </a:prstGeom>
          <a:noFill/>
          <a:ln/>
        </p:spPr>
        <p:txBody>
          <a:bodyPr wrap="square" lIns="0" tIns="0" rIns="0" bIns="0" rtlCol="0" anchor="ctr"/>
          <a:lstStyle/>
          <a:p>
            <a:pPr marL="0" indent="0">
              <a:buNone/>
            </a:pPr>
            <a:r>
              <a:rPr lang="en-US" sz="1400" b="1" dirty="0">
                <a:solidFill>
                  <a:srgbClr val="0ABDE3"/>
                </a:solidFill>
                <a:latin typeface="Trebuchet MS" pitchFamily="34" charset="0"/>
                <a:ea typeface="Trebuchet MS" pitchFamily="34" charset="-122"/>
                <a:cs typeface="Trebuchet MS" pitchFamily="34" charset="-120"/>
              </a:rPr>
              <a:t>2020</a:t>
            </a:r>
            <a:endParaRPr lang="en-US" sz="1400" dirty="0"/>
          </a:p>
        </p:txBody>
      </p:sp>
      <p:sp>
        <p:nvSpPr>
          <p:cNvPr id="11" name="Text 8"/>
          <p:cNvSpPr/>
          <p:nvPr/>
        </p:nvSpPr>
        <p:spPr>
          <a:xfrm>
            <a:off x="1371600" y="109728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14</a:t>
            </a:r>
            <a:endParaRPr lang="en-US" sz="1200" dirty="0"/>
          </a:p>
        </p:txBody>
      </p:sp>
      <p:sp>
        <p:nvSpPr>
          <p:cNvPr id="12" name="Text 9"/>
          <p:cNvSpPr/>
          <p:nvPr/>
        </p:nvSpPr>
        <p:spPr>
          <a:xfrm>
            <a:off x="3108960" y="109728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Widgets on Home Screen, App Library, App Clips, compact Siri.</a:t>
            </a:r>
            <a:endParaRPr lang="en-US" sz="1150" dirty="0"/>
          </a:p>
        </p:txBody>
      </p:sp>
      <p:sp>
        <p:nvSpPr>
          <p:cNvPr id="13" name="Shape 10"/>
          <p:cNvSpPr/>
          <p:nvPr/>
        </p:nvSpPr>
        <p:spPr>
          <a:xfrm>
            <a:off x="457200" y="169164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1"/>
          <p:cNvSpPr/>
          <p:nvPr/>
        </p:nvSpPr>
        <p:spPr>
          <a:xfrm>
            <a:off x="457200" y="1691640"/>
            <a:ext cx="73152" cy="548640"/>
          </a:xfrm>
          <a:prstGeom prst="rect">
            <a:avLst/>
          </a:prstGeom>
          <a:solidFill>
            <a:srgbClr val="0ABDE3"/>
          </a:solidFill>
          <a:ln/>
        </p:spPr>
        <p:txBody>
          <a:bodyPr/>
          <a:lstStyle/>
          <a:p>
            <a:endParaRPr lang="en-US"/>
          </a:p>
        </p:txBody>
      </p:sp>
      <p:sp>
        <p:nvSpPr>
          <p:cNvPr id="15" name="Text 12"/>
          <p:cNvSpPr/>
          <p:nvPr/>
        </p:nvSpPr>
        <p:spPr>
          <a:xfrm>
            <a:off x="685800" y="1737360"/>
            <a:ext cx="640080" cy="457200"/>
          </a:xfrm>
          <a:prstGeom prst="rect">
            <a:avLst/>
          </a:prstGeom>
          <a:noFill/>
          <a:ln/>
        </p:spPr>
        <p:txBody>
          <a:bodyPr wrap="square" lIns="0" tIns="0" rIns="0" bIns="0" rtlCol="0" anchor="ctr"/>
          <a:lstStyle/>
          <a:p>
            <a:pPr marL="0" indent="0">
              <a:buNone/>
            </a:pPr>
            <a:r>
              <a:rPr lang="en-US" sz="1400" b="1" dirty="0">
                <a:solidFill>
                  <a:srgbClr val="0ABDE3"/>
                </a:solidFill>
                <a:latin typeface="Trebuchet MS" pitchFamily="34" charset="0"/>
                <a:ea typeface="Trebuchet MS" pitchFamily="34" charset="-122"/>
                <a:cs typeface="Trebuchet MS" pitchFamily="34" charset="-120"/>
              </a:rPr>
              <a:t>2021</a:t>
            </a:r>
            <a:endParaRPr lang="en-US" sz="1400" dirty="0"/>
          </a:p>
        </p:txBody>
      </p:sp>
      <p:sp>
        <p:nvSpPr>
          <p:cNvPr id="16" name="Text 13"/>
          <p:cNvSpPr/>
          <p:nvPr/>
        </p:nvSpPr>
        <p:spPr>
          <a:xfrm>
            <a:off x="1371600" y="173736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15</a:t>
            </a:r>
            <a:endParaRPr lang="en-US" sz="1200" dirty="0"/>
          </a:p>
        </p:txBody>
      </p:sp>
      <p:sp>
        <p:nvSpPr>
          <p:cNvPr id="17" name="Text 14"/>
          <p:cNvSpPr/>
          <p:nvPr/>
        </p:nvSpPr>
        <p:spPr>
          <a:xfrm>
            <a:off x="3108960" y="173736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Focus modes, Live Text (OCR), SharePlay, redesigned notifications.</a:t>
            </a:r>
            <a:endParaRPr lang="en-US" sz="1150" dirty="0"/>
          </a:p>
        </p:txBody>
      </p:sp>
      <p:sp>
        <p:nvSpPr>
          <p:cNvPr id="18" name="Shape 15"/>
          <p:cNvSpPr/>
          <p:nvPr/>
        </p:nvSpPr>
        <p:spPr>
          <a:xfrm>
            <a:off x="457200" y="233172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6"/>
          <p:cNvSpPr/>
          <p:nvPr/>
        </p:nvSpPr>
        <p:spPr>
          <a:xfrm>
            <a:off x="457200" y="2331720"/>
            <a:ext cx="73152" cy="548640"/>
          </a:xfrm>
          <a:prstGeom prst="rect">
            <a:avLst/>
          </a:prstGeom>
          <a:solidFill>
            <a:srgbClr val="0ABDE3"/>
          </a:solidFill>
          <a:ln/>
        </p:spPr>
        <p:txBody>
          <a:bodyPr/>
          <a:lstStyle/>
          <a:p>
            <a:endParaRPr lang="en-US"/>
          </a:p>
        </p:txBody>
      </p:sp>
      <p:sp>
        <p:nvSpPr>
          <p:cNvPr id="20" name="Text 17"/>
          <p:cNvSpPr/>
          <p:nvPr/>
        </p:nvSpPr>
        <p:spPr>
          <a:xfrm>
            <a:off x="685800" y="2377440"/>
            <a:ext cx="640080" cy="457200"/>
          </a:xfrm>
          <a:prstGeom prst="rect">
            <a:avLst/>
          </a:prstGeom>
          <a:noFill/>
          <a:ln/>
        </p:spPr>
        <p:txBody>
          <a:bodyPr wrap="square" lIns="0" tIns="0" rIns="0" bIns="0" rtlCol="0" anchor="ctr"/>
          <a:lstStyle/>
          <a:p>
            <a:pPr marL="0" indent="0">
              <a:buNone/>
            </a:pPr>
            <a:r>
              <a:rPr lang="en-US" sz="1400" b="1" dirty="0">
                <a:solidFill>
                  <a:srgbClr val="0ABDE3"/>
                </a:solidFill>
                <a:latin typeface="Trebuchet MS" pitchFamily="34" charset="0"/>
                <a:ea typeface="Trebuchet MS" pitchFamily="34" charset="-122"/>
                <a:cs typeface="Trebuchet MS" pitchFamily="34" charset="-120"/>
              </a:rPr>
              <a:t>2022</a:t>
            </a:r>
            <a:endParaRPr lang="en-US" sz="1400" dirty="0"/>
          </a:p>
        </p:txBody>
      </p:sp>
      <p:sp>
        <p:nvSpPr>
          <p:cNvPr id="21" name="Text 18"/>
          <p:cNvSpPr/>
          <p:nvPr/>
        </p:nvSpPr>
        <p:spPr>
          <a:xfrm>
            <a:off x="1371600" y="237744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16</a:t>
            </a:r>
            <a:endParaRPr lang="en-US" sz="1200" dirty="0"/>
          </a:p>
        </p:txBody>
      </p:sp>
      <p:sp>
        <p:nvSpPr>
          <p:cNvPr id="22" name="Text 19"/>
          <p:cNvSpPr/>
          <p:nvPr/>
        </p:nvSpPr>
        <p:spPr>
          <a:xfrm>
            <a:off x="3108960" y="237744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Customizable Lock Screen, Safety Check, unsend/edit iMessages.</a:t>
            </a:r>
            <a:endParaRPr lang="en-US" sz="1150" dirty="0"/>
          </a:p>
        </p:txBody>
      </p:sp>
      <p:sp>
        <p:nvSpPr>
          <p:cNvPr id="23" name="Shape 20"/>
          <p:cNvSpPr/>
          <p:nvPr/>
        </p:nvSpPr>
        <p:spPr>
          <a:xfrm>
            <a:off x="457200" y="297180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21"/>
          <p:cNvSpPr/>
          <p:nvPr/>
        </p:nvSpPr>
        <p:spPr>
          <a:xfrm>
            <a:off x="457200" y="2971800"/>
            <a:ext cx="73152" cy="548640"/>
          </a:xfrm>
          <a:prstGeom prst="rect">
            <a:avLst/>
          </a:prstGeom>
          <a:solidFill>
            <a:srgbClr val="0ABDE3"/>
          </a:solidFill>
          <a:ln/>
        </p:spPr>
        <p:txBody>
          <a:bodyPr/>
          <a:lstStyle/>
          <a:p>
            <a:endParaRPr lang="en-US"/>
          </a:p>
        </p:txBody>
      </p:sp>
      <p:sp>
        <p:nvSpPr>
          <p:cNvPr id="25" name="Text 22"/>
          <p:cNvSpPr/>
          <p:nvPr/>
        </p:nvSpPr>
        <p:spPr>
          <a:xfrm>
            <a:off x="685800" y="3017520"/>
            <a:ext cx="640080" cy="457200"/>
          </a:xfrm>
          <a:prstGeom prst="rect">
            <a:avLst/>
          </a:prstGeom>
          <a:noFill/>
          <a:ln/>
        </p:spPr>
        <p:txBody>
          <a:bodyPr wrap="square" lIns="0" tIns="0" rIns="0" bIns="0" rtlCol="0" anchor="ctr"/>
          <a:lstStyle/>
          <a:p>
            <a:pPr marL="0" indent="0">
              <a:buNone/>
            </a:pPr>
            <a:r>
              <a:rPr lang="en-US" sz="1400" b="1" dirty="0">
                <a:solidFill>
                  <a:srgbClr val="0ABDE3"/>
                </a:solidFill>
                <a:latin typeface="Trebuchet MS" pitchFamily="34" charset="0"/>
                <a:ea typeface="Trebuchet MS" pitchFamily="34" charset="-122"/>
                <a:cs typeface="Trebuchet MS" pitchFamily="34" charset="-120"/>
              </a:rPr>
              <a:t>2023</a:t>
            </a:r>
            <a:endParaRPr lang="en-US" sz="1400" dirty="0"/>
          </a:p>
        </p:txBody>
      </p:sp>
      <p:sp>
        <p:nvSpPr>
          <p:cNvPr id="26" name="Text 23"/>
          <p:cNvSpPr/>
          <p:nvPr/>
        </p:nvSpPr>
        <p:spPr>
          <a:xfrm>
            <a:off x="1371600" y="301752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17</a:t>
            </a:r>
            <a:endParaRPr lang="en-US" sz="1200" dirty="0"/>
          </a:p>
        </p:txBody>
      </p:sp>
      <p:sp>
        <p:nvSpPr>
          <p:cNvPr id="27" name="Text 24"/>
          <p:cNvSpPr/>
          <p:nvPr/>
        </p:nvSpPr>
        <p:spPr>
          <a:xfrm>
            <a:off x="3108960" y="301752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StandBy mode, Journal app, Contact Posters, NameDrop.</a:t>
            </a:r>
            <a:endParaRPr lang="en-US" sz="1150" dirty="0"/>
          </a:p>
        </p:txBody>
      </p:sp>
      <p:sp>
        <p:nvSpPr>
          <p:cNvPr id="28" name="Shape 25"/>
          <p:cNvSpPr/>
          <p:nvPr/>
        </p:nvSpPr>
        <p:spPr>
          <a:xfrm>
            <a:off x="457200" y="361188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6"/>
          <p:cNvSpPr/>
          <p:nvPr/>
        </p:nvSpPr>
        <p:spPr>
          <a:xfrm>
            <a:off x="457200" y="3611880"/>
            <a:ext cx="73152" cy="548640"/>
          </a:xfrm>
          <a:prstGeom prst="rect">
            <a:avLst/>
          </a:prstGeom>
          <a:solidFill>
            <a:srgbClr val="0ABDE3"/>
          </a:solidFill>
          <a:ln/>
        </p:spPr>
        <p:txBody>
          <a:bodyPr/>
          <a:lstStyle/>
          <a:p>
            <a:endParaRPr lang="en-US"/>
          </a:p>
        </p:txBody>
      </p:sp>
      <p:sp>
        <p:nvSpPr>
          <p:cNvPr id="30" name="Text 27"/>
          <p:cNvSpPr/>
          <p:nvPr/>
        </p:nvSpPr>
        <p:spPr>
          <a:xfrm>
            <a:off x="685800" y="3657600"/>
            <a:ext cx="640080" cy="457200"/>
          </a:xfrm>
          <a:prstGeom prst="rect">
            <a:avLst/>
          </a:prstGeom>
          <a:noFill/>
          <a:ln/>
        </p:spPr>
        <p:txBody>
          <a:bodyPr wrap="square" lIns="0" tIns="0" rIns="0" bIns="0" rtlCol="0" anchor="ctr"/>
          <a:lstStyle/>
          <a:p>
            <a:pPr marL="0" indent="0">
              <a:buNone/>
            </a:pPr>
            <a:r>
              <a:rPr lang="en-US" sz="1400" b="1" dirty="0">
                <a:solidFill>
                  <a:srgbClr val="0ABDE3"/>
                </a:solidFill>
                <a:latin typeface="Trebuchet MS" pitchFamily="34" charset="0"/>
                <a:ea typeface="Trebuchet MS" pitchFamily="34" charset="-122"/>
                <a:cs typeface="Trebuchet MS" pitchFamily="34" charset="-120"/>
              </a:rPr>
              <a:t>2024</a:t>
            </a:r>
            <a:endParaRPr lang="en-US" sz="1400" dirty="0"/>
          </a:p>
        </p:txBody>
      </p:sp>
      <p:sp>
        <p:nvSpPr>
          <p:cNvPr id="31" name="Text 28"/>
          <p:cNvSpPr/>
          <p:nvPr/>
        </p:nvSpPr>
        <p:spPr>
          <a:xfrm>
            <a:off x="1371600" y="365760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18</a:t>
            </a:r>
            <a:endParaRPr lang="en-US" sz="1200" dirty="0"/>
          </a:p>
        </p:txBody>
      </p:sp>
      <p:sp>
        <p:nvSpPr>
          <p:cNvPr id="32" name="Text 29"/>
          <p:cNvSpPr/>
          <p:nvPr/>
        </p:nvSpPr>
        <p:spPr>
          <a:xfrm>
            <a:off x="3108960" y="365760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Apple Intelligence (AI), RCS messaging, Home Screen customization.</a:t>
            </a:r>
            <a:endParaRPr lang="en-US" sz="1150" dirty="0"/>
          </a:p>
        </p:txBody>
      </p:sp>
      <p:sp>
        <p:nvSpPr>
          <p:cNvPr id="33" name="Shape 30"/>
          <p:cNvSpPr/>
          <p:nvPr/>
        </p:nvSpPr>
        <p:spPr>
          <a:xfrm>
            <a:off x="457200" y="4251960"/>
            <a:ext cx="82296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4" name="Shape 31"/>
          <p:cNvSpPr/>
          <p:nvPr/>
        </p:nvSpPr>
        <p:spPr>
          <a:xfrm>
            <a:off x="457200" y="4251960"/>
            <a:ext cx="73152" cy="548640"/>
          </a:xfrm>
          <a:prstGeom prst="rect">
            <a:avLst/>
          </a:prstGeom>
          <a:solidFill>
            <a:srgbClr val="10B981"/>
          </a:solidFill>
          <a:ln/>
        </p:spPr>
        <p:txBody>
          <a:bodyPr/>
          <a:lstStyle/>
          <a:p>
            <a:endParaRPr lang="en-US"/>
          </a:p>
        </p:txBody>
      </p:sp>
      <p:sp>
        <p:nvSpPr>
          <p:cNvPr id="35" name="Text 32"/>
          <p:cNvSpPr/>
          <p:nvPr/>
        </p:nvSpPr>
        <p:spPr>
          <a:xfrm>
            <a:off x="685800" y="4297680"/>
            <a:ext cx="640080" cy="457200"/>
          </a:xfrm>
          <a:prstGeom prst="rect">
            <a:avLst/>
          </a:prstGeom>
          <a:noFill/>
          <a:ln/>
        </p:spPr>
        <p:txBody>
          <a:bodyPr wrap="square" lIns="0" tIns="0" rIns="0" bIns="0" rtlCol="0" anchor="ctr"/>
          <a:lstStyle/>
          <a:p>
            <a:pPr marL="0" indent="0">
              <a:buNone/>
            </a:pPr>
            <a:r>
              <a:rPr lang="en-US" sz="1400" b="1" dirty="0">
                <a:solidFill>
                  <a:srgbClr val="10B981"/>
                </a:solidFill>
                <a:latin typeface="Trebuchet MS" pitchFamily="34" charset="0"/>
                <a:ea typeface="Trebuchet MS" pitchFamily="34" charset="-122"/>
                <a:cs typeface="Trebuchet MS" pitchFamily="34" charset="-120"/>
              </a:rPr>
              <a:t>2025</a:t>
            </a:r>
            <a:endParaRPr lang="en-US" sz="1400" dirty="0"/>
          </a:p>
        </p:txBody>
      </p:sp>
      <p:sp>
        <p:nvSpPr>
          <p:cNvPr id="36" name="Text 33"/>
          <p:cNvSpPr/>
          <p:nvPr/>
        </p:nvSpPr>
        <p:spPr>
          <a:xfrm>
            <a:off x="1371600" y="4297680"/>
            <a:ext cx="1645920" cy="457200"/>
          </a:xfrm>
          <a:prstGeom prst="rect">
            <a:avLst/>
          </a:prstGeom>
          <a:noFill/>
          <a:ln/>
        </p:spPr>
        <p:txBody>
          <a:bodyPr wrap="square" lIns="0" tIns="0" rIns="0" bIns="0" rtlCol="0" anchor="ctr"/>
          <a:lstStyle/>
          <a:p>
            <a:pPr marL="0" indent="0">
              <a:buNone/>
            </a:pPr>
            <a:r>
              <a:rPr lang="en-US" sz="1200" b="1" dirty="0">
                <a:solidFill>
                  <a:srgbClr val="1E293B"/>
                </a:solidFill>
                <a:latin typeface="Trebuchet MS" pitchFamily="34" charset="0"/>
                <a:ea typeface="Trebuchet MS" pitchFamily="34" charset="-122"/>
                <a:cs typeface="Trebuchet MS" pitchFamily="34" charset="-120"/>
              </a:rPr>
              <a:t>iOS 26</a:t>
            </a:r>
            <a:endParaRPr lang="en-US" sz="1200" dirty="0"/>
          </a:p>
        </p:txBody>
      </p:sp>
      <p:sp>
        <p:nvSpPr>
          <p:cNvPr id="37" name="Text 34"/>
          <p:cNvSpPr/>
          <p:nvPr/>
        </p:nvSpPr>
        <p:spPr>
          <a:xfrm>
            <a:off x="3108960" y="4297680"/>
            <a:ext cx="5303520"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Naming changed to match year. Liquid Glass design. Major AI expansion.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Key Milestones in iOS History</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History – Dylan Trenck</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30</a:t>
            </a:r>
            <a:endParaRPr lang="en-US" sz="900" dirty="0"/>
          </a:p>
        </p:txBody>
      </p:sp>
      <p:sp>
        <p:nvSpPr>
          <p:cNvPr id="8" name="Shape 5"/>
          <p:cNvSpPr/>
          <p:nvPr/>
        </p:nvSpPr>
        <p:spPr>
          <a:xfrm>
            <a:off x="548640" y="1124712"/>
            <a:ext cx="384048" cy="384048"/>
          </a:xfrm>
          <a:prstGeom prst="ellipse">
            <a:avLst/>
          </a:prstGeom>
          <a:solidFill>
            <a:srgbClr val="2E86DE"/>
          </a:solidFill>
          <a:ln/>
        </p:spPr>
        <p:txBody>
          <a:bodyPr/>
          <a:lstStyle/>
          <a:p>
            <a:endParaRPr lang="en-US"/>
          </a:p>
        </p:txBody>
      </p:sp>
      <p:sp>
        <p:nvSpPr>
          <p:cNvPr id="9" name="Text 6"/>
          <p:cNvSpPr/>
          <p:nvPr/>
        </p:nvSpPr>
        <p:spPr>
          <a:xfrm>
            <a:off x="548640" y="112471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2007</a:t>
            </a:r>
            <a:endParaRPr lang="en-US" sz="900" dirty="0"/>
          </a:p>
        </p:txBody>
      </p:sp>
      <p:sp>
        <p:nvSpPr>
          <p:cNvPr id="10" name="Text 7"/>
          <p:cNvSpPr/>
          <p:nvPr/>
        </p:nvSpPr>
        <p:spPr>
          <a:xfrm>
            <a:off x="1097280" y="1097280"/>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The iPhone launches — redefines the smartphone industry.</a:t>
            </a:r>
            <a:endParaRPr lang="en-US" sz="1300" dirty="0"/>
          </a:p>
        </p:txBody>
      </p:sp>
      <p:sp>
        <p:nvSpPr>
          <p:cNvPr id="11" name="Shape 8"/>
          <p:cNvSpPr/>
          <p:nvPr/>
        </p:nvSpPr>
        <p:spPr>
          <a:xfrm>
            <a:off x="713232" y="1508760"/>
            <a:ext cx="36576" cy="91440"/>
          </a:xfrm>
          <a:prstGeom prst="rect">
            <a:avLst/>
          </a:prstGeom>
          <a:solidFill>
            <a:srgbClr val="E8EEF4"/>
          </a:solidFill>
          <a:ln/>
        </p:spPr>
        <p:txBody>
          <a:bodyPr/>
          <a:lstStyle/>
          <a:p>
            <a:endParaRPr lang="en-US"/>
          </a:p>
        </p:txBody>
      </p:sp>
      <p:sp>
        <p:nvSpPr>
          <p:cNvPr id="12" name="Shape 9"/>
          <p:cNvSpPr/>
          <p:nvPr/>
        </p:nvSpPr>
        <p:spPr>
          <a:xfrm>
            <a:off x="548640" y="1655064"/>
            <a:ext cx="384048" cy="384048"/>
          </a:xfrm>
          <a:prstGeom prst="ellipse">
            <a:avLst/>
          </a:prstGeom>
          <a:solidFill>
            <a:srgbClr val="2E86DE"/>
          </a:solidFill>
          <a:ln/>
        </p:spPr>
        <p:txBody>
          <a:bodyPr/>
          <a:lstStyle/>
          <a:p>
            <a:endParaRPr lang="en-US"/>
          </a:p>
        </p:txBody>
      </p:sp>
      <p:sp>
        <p:nvSpPr>
          <p:cNvPr id="13" name="Text 10"/>
          <p:cNvSpPr/>
          <p:nvPr/>
        </p:nvSpPr>
        <p:spPr>
          <a:xfrm>
            <a:off x="548640" y="1655064"/>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2008</a:t>
            </a:r>
            <a:endParaRPr lang="en-US" sz="900" dirty="0"/>
          </a:p>
        </p:txBody>
      </p:sp>
      <p:sp>
        <p:nvSpPr>
          <p:cNvPr id="14" name="Text 11"/>
          <p:cNvSpPr/>
          <p:nvPr/>
        </p:nvSpPr>
        <p:spPr>
          <a:xfrm>
            <a:off x="1097280" y="1627632"/>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App Store opens — creates the modern app economy.</a:t>
            </a:r>
            <a:endParaRPr lang="en-US" sz="1300" dirty="0"/>
          </a:p>
        </p:txBody>
      </p:sp>
      <p:sp>
        <p:nvSpPr>
          <p:cNvPr id="15" name="Shape 12"/>
          <p:cNvSpPr/>
          <p:nvPr/>
        </p:nvSpPr>
        <p:spPr>
          <a:xfrm>
            <a:off x="713232" y="2039112"/>
            <a:ext cx="36576" cy="91440"/>
          </a:xfrm>
          <a:prstGeom prst="rect">
            <a:avLst/>
          </a:prstGeom>
          <a:solidFill>
            <a:srgbClr val="E8EEF4"/>
          </a:solidFill>
          <a:ln/>
        </p:spPr>
        <p:txBody>
          <a:bodyPr/>
          <a:lstStyle/>
          <a:p>
            <a:endParaRPr lang="en-US"/>
          </a:p>
        </p:txBody>
      </p:sp>
      <p:sp>
        <p:nvSpPr>
          <p:cNvPr id="16" name="Shape 13"/>
          <p:cNvSpPr/>
          <p:nvPr/>
        </p:nvSpPr>
        <p:spPr>
          <a:xfrm>
            <a:off x="548640" y="2185416"/>
            <a:ext cx="384048" cy="384048"/>
          </a:xfrm>
          <a:prstGeom prst="ellipse">
            <a:avLst/>
          </a:prstGeom>
          <a:solidFill>
            <a:srgbClr val="2E86DE"/>
          </a:solidFill>
          <a:ln/>
        </p:spPr>
        <p:txBody>
          <a:bodyPr/>
          <a:lstStyle/>
          <a:p>
            <a:endParaRPr lang="en-US"/>
          </a:p>
        </p:txBody>
      </p:sp>
      <p:sp>
        <p:nvSpPr>
          <p:cNvPr id="17" name="Text 14"/>
          <p:cNvSpPr/>
          <p:nvPr/>
        </p:nvSpPr>
        <p:spPr>
          <a:xfrm>
            <a:off x="548640" y="2185416"/>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2013</a:t>
            </a:r>
            <a:endParaRPr lang="en-US" sz="900" dirty="0"/>
          </a:p>
        </p:txBody>
      </p:sp>
      <p:sp>
        <p:nvSpPr>
          <p:cNvPr id="18" name="Text 15"/>
          <p:cNvSpPr/>
          <p:nvPr/>
        </p:nvSpPr>
        <p:spPr>
          <a:xfrm>
            <a:off x="1097280" y="2157984"/>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iOS 7's flat design — biggest visual change until 2025.</a:t>
            </a:r>
            <a:endParaRPr lang="en-US" sz="1300" dirty="0"/>
          </a:p>
        </p:txBody>
      </p:sp>
      <p:sp>
        <p:nvSpPr>
          <p:cNvPr id="19" name="Shape 16"/>
          <p:cNvSpPr/>
          <p:nvPr/>
        </p:nvSpPr>
        <p:spPr>
          <a:xfrm>
            <a:off x="713232" y="2569464"/>
            <a:ext cx="36576" cy="91440"/>
          </a:xfrm>
          <a:prstGeom prst="rect">
            <a:avLst/>
          </a:prstGeom>
          <a:solidFill>
            <a:srgbClr val="E8EEF4"/>
          </a:solidFill>
          <a:ln/>
        </p:spPr>
        <p:txBody>
          <a:bodyPr/>
          <a:lstStyle/>
          <a:p>
            <a:endParaRPr lang="en-US"/>
          </a:p>
        </p:txBody>
      </p:sp>
      <p:sp>
        <p:nvSpPr>
          <p:cNvPr id="20" name="Shape 17"/>
          <p:cNvSpPr/>
          <p:nvPr/>
        </p:nvSpPr>
        <p:spPr>
          <a:xfrm>
            <a:off x="548640" y="2715768"/>
            <a:ext cx="384048" cy="384048"/>
          </a:xfrm>
          <a:prstGeom prst="ellipse">
            <a:avLst/>
          </a:prstGeom>
          <a:solidFill>
            <a:srgbClr val="2E86DE"/>
          </a:solidFill>
          <a:ln/>
        </p:spPr>
        <p:txBody>
          <a:bodyPr/>
          <a:lstStyle/>
          <a:p>
            <a:endParaRPr lang="en-US"/>
          </a:p>
        </p:txBody>
      </p:sp>
      <p:sp>
        <p:nvSpPr>
          <p:cNvPr id="21" name="Text 18"/>
          <p:cNvSpPr/>
          <p:nvPr/>
        </p:nvSpPr>
        <p:spPr>
          <a:xfrm>
            <a:off x="548640" y="2715768"/>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2017</a:t>
            </a:r>
            <a:endParaRPr lang="en-US" sz="900" dirty="0"/>
          </a:p>
        </p:txBody>
      </p:sp>
      <p:sp>
        <p:nvSpPr>
          <p:cNvPr id="22" name="Text 19"/>
          <p:cNvSpPr/>
          <p:nvPr/>
        </p:nvSpPr>
        <p:spPr>
          <a:xfrm>
            <a:off x="1097280" y="2688336"/>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ARKit — brings augmented reality to mainstream mobile.</a:t>
            </a:r>
            <a:endParaRPr lang="en-US" sz="1300" dirty="0"/>
          </a:p>
        </p:txBody>
      </p:sp>
      <p:sp>
        <p:nvSpPr>
          <p:cNvPr id="23" name="Shape 20"/>
          <p:cNvSpPr/>
          <p:nvPr/>
        </p:nvSpPr>
        <p:spPr>
          <a:xfrm>
            <a:off x="713232" y="3099816"/>
            <a:ext cx="36576" cy="91440"/>
          </a:xfrm>
          <a:prstGeom prst="rect">
            <a:avLst/>
          </a:prstGeom>
          <a:solidFill>
            <a:srgbClr val="E8EEF4"/>
          </a:solidFill>
          <a:ln/>
        </p:spPr>
        <p:txBody>
          <a:bodyPr/>
          <a:lstStyle/>
          <a:p>
            <a:endParaRPr lang="en-US"/>
          </a:p>
        </p:txBody>
      </p:sp>
      <p:sp>
        <p:nvSpPr>
          <p:cNvPr id="24" name="Shape 21"/>
          <p:cNvSpPr/>
          <p:nvPr/>
        </p:nvSpPr>
        <p:spPr>
          <a:xfrm>
            <a:off x="548640" y="3246120"/>
            <a:ext cx="384048" cy="384048"/>
          </a:xfrm>
          <a:prstGeom prst="ellipse">
            <a:avLst/>
          </a:prstGeom>
          <a:solidFill>
            <a:srgbClr val="2E86DE"/>
          </a:solidFill>
          <a:ln/>
        </p:spPr>
        <p:txBody>
          <a:bodyPr/>
          <a:lstStyle/>
          <a:p>
            <a:endParaRPr lang="en-US"/>
          </a:p>
        </p:txBody>
      </p:sp>
      <p:sp>
        <p:nvSpPr>
          <p:cNvPr id="25" name="Text 22"/>
          <p:cNvSpPr/>
          <p:nvPr/>
        </p:nvSpPr>
        <p:spPr>
          <a:xfrm>
            <a:off x="548640" y="324612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2019</a:t>
            </a:r>
            <a:endParaRPr lang="en-US" sz="900" dirty="0"/>
          </a:p>
        </p:txBody>
      </p:sp>
      <p:sp>
        <p:nvSpPr>
          <p:cNvPr id="26" name="Text 23"/>
          <p:cNvSpPr/>
          <p:nvPr/>
        </p:nvSpPr>
        <p:spPr>
          <a:xfrm>
            <a:off x="1097280" y="3218688"/>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iPadOS splits from iOS — tablets become a separate platform.</a:t>
            </a:r>
            <a:endParaRPr lang="en-US" sz="1300" dirty="0"/>
          </a:p>
        </p:txBody>
      </p:sp>
      <p:sp>
        <p:nvSpPr>
          <p:cNvPr id="27" name="Shape 24"/>
          <p:cNvSpPr/>
          <p:nvPr/>
        </p:nvSpPr>
        <p:spPr>
          <a:xfrm>
            <a:off x="713232" y="3630168"/>
            <a:ext cx="36576" cy="91440"/>
          </a:xfrm>
          <a:prstGeom prst="rect">
            <a:avLst/>
          </a:prstGeom>
          <a:solidFill>
            <a:srgbClr val="E8EEF4"/>
          </a:solidFill>
          <a:ln/>
        </p:spPr>
        <p:txBody>
          <a:bodyPr/>
          <a:lstStyle/>
          <a:p>
            <a:endParaRPr lang="en-US"/>
          </a:p>
        </p:txBody>
      </p:sp>
      <p:sp>
        <p:nvSpPr>
          <p:cNvPr id="28" name="Shape 25"/>
          <p:cNvSpPr/>
          <p:nvPr/>
        </p:nvSpPr>
        <p:spPr>
          <a:xfrm>
            <a:off x="548640" y="3776472"/>
            <a:ext cx="384048" cy="384048"/>
          </a:xfrm>
          <a:prstGeom prst="ellipse">
            <a:avLst/>
          </a:prstGeom>
          <a:solidFill>
            <a:srgbClr val="2E86DE"/>
          </a:solidFill>
          <a:ln/>
        </p:spPr>
        <p:txBody>
          <a:bodyPr/>
          <a:lstStyle/>
          <a:p>
            <a:endParaRPr lang="en-US"/>
          </a:p>
        </p:txBody>
      </p:sp>
      <p:sp>
        <p:nvSpPr>
          <p:cNvPr id="29" name="Text 26"/>
          <p:cNvSpPr/>
          <p:nvPr/>
        </p:nvSpPr>
        <p:spPr>
          <a:xfrm>
            <a:off x="548640" y="377647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2024</a:t>
            </a:r>
            <a:endParaRPr lang="en-US" sz="900" dirty="0"/>
          </a:p>
        </p:txBody>
      </p:sp>
      <p:sp>
        <p:nvSpPr>
          <p:cNvPr id="30" name="Text 27"/>
          <p:cNvSpPr/>
          <p:nvPr/>
        </p:nvSpPr>
        <p:spPr>
          <a:xfrm>
            <a:off x="1097280" y="3749040"/>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Apple Intelligence — AI integration into the core OS.</a:t>
            </a:r>
            <a:endParaRPr lang="en-US" sz="1300" dirty="0"/>
          </a:p>
        </p:txBody>
      </p:sp>
      <p:sp>
        <p:nvSpPr>
          <p:cNvPr id="31" name="Shape 28"/>
          <p:cNvSpPr/>
          <p:nvPr/>
        </p:nvSpPr>
        <p:spPr>
          <a:xfrm>
            <a:off x="713232" y="4160520"/>
            <a:ext cx="36576" cy="91440"/>
          </a:xfrm>
          <a:prstGeom prst="rect">
            <a:avLst/>
          </a:prstGeom>
          <a:solidFill>
            <a:srgbClr val="E8EEF4"/>
          </a:solidFill>
          <a:ln/>
        </p:spPr>
        <p:txBody>
          <a:bodyPr/>
          <a:lstStyle/>
          <a:p>
            <a:endParaRPr lang="en-US"/>
          </a:p>
        </p:txBody>
      </p:sp>
      <p:sp>
        <p:nvSpPr>
          <p:cNvPr id="32" name="Shape 29"/>
          <p:cNvSpPr/>
          <p:nvPr/>
        </p:nvSpPr>
        <p:spPr>
          <a:xfrm>
            <a:off x="548640" y="4306824"/>
            <a:ext cx="384048" cy="384048"/>
          </a:xfrm>
          <a:prstGeom prst="ellipse">
            <a:avLst/>
          </a:prstGeom>
          <a:solidFill>
            <a:srgbClr val="2E86DE"/>
          </a:solidFill>
          <a:ln/>
        </p:spPr>
        <p:txBody>
          <a:bodyPr/>
          <a:lstStyle/>
          <a:p>
            <a:endParaRPr lang="en-US"/>
          </a:p>
        </p:txBody>
      </p:sp>
      <p:sp>
        <p:nvSpPr>
          <p:cNvPr id="33" name="Text 30"/>
          <p:cNvSpPr/>
          <p:nvPr/>
        </p:nvSpPr>
        <p:spPr>
          <a:xfrm>
            <a:off x="548640" y="4306824"/>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2025</a:t>
            </a:r>
            <a:endParaRPr lang="en-US" sz="900" dirty="0"/>
          </a:p>
        </p:txBody>
      </p:sp>
      <p:sp>
        <p:nvSpPr>
          <p:cNvPr id="34" name="Text 31"/>
          <p:cNvSpPr/>
          <p:nvPr/>
        </p:nvSpPr>
        <p:spPr>
          <a:xfrm>
            <a:off x="1097280" y="4279392"/>
            <a:ext cx="7589520" cy="43891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iOS 26 &amp; Liquid Glass — first major redesign in over a decade.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1463040"/>
            <a:ext cx="502920" cy="502920"/>
          </a:xfrm>
          <a:prstGeom prst="rect">
            <a:avLst/>
          </a:prstGeom>
        </p:spPr>
      </p:pic>
      <p:sp>
        <p:nvSpPr>
          <p:cNvPr id="4" name="Text 1"/>
          <p:cNvSpPr/>
          <p:nvPr/>
        </p:nvSpPr>
        <p:spPr>
          <a:xfrm>
            <a:off x="1371600" y="13716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iOS Architecture</a:t>
            </a:r>
            <a:endParaRPr lang="en-US" sz="3200" dirty="0"/>
          </a:p>
        </p:txBody>
      </p:sp>
      <p:sp>
        <p:nvSpPr>
          <p:cNvPr id="5" name="Text 2"/>
          <p:cNvSpPr/>
          <p:nvPr/>
        </p:nvSpPr>
        <p:spPr>
          <a:xfrm>
            <a:off x="640080" y="2286000"/>
            <a:ext cx="7863840" cy="457200"/>
          </a:xfrm>
          <a:prstGeom prst="rect">
            <a:avLst/>
          </a:prstGeom>
          <a:noFill/>
          <a:ln/>
        </p:spPr>
        <p:txBody>
          <a:bodyPr wrap="square" lIns="0" tIns="0" rIns="0" bIns="0" rtlCol="0" anchor="ctr"/>
          <a:lstStyle/>
          <a:p>
            <a:pPr marL="0" indent="0">
              <a:buNone/>
            </a:pPr>
            <a:r>
              <a:rPr lang="en-US" sz="1600" dirty="0">
                <a:solidFill>
                  <a:srgbClr val="54A0FF"/>
                </a:solidFill>
                <a:latin typeface="Calibri" pitchFamily="34" charset="0"/>
                <a:ea typeface="Calibri" pitchFamily="34" charset="-122"/>
                <a:cs typeface="Calibri" pitchFamily="34" charset="-120"/>
              </a:rPr>
              <a:t>How iOS is built from the ground up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iOS Architecture: Four Layers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Architecture – Christopher Lu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30</a:t>
            </a:r>
            <a:endParaRPr lang="en-US" sz="900" dirty="0"/>
          </a:p>
        </p:txBody>
      </p:sp>
      <p:sp>
        <p:nvSpPr>
          <p:cNvPr id="8" name="Shape 5"/>
          <p:cNvSpPr/>
          <p:nvPr/>
        </p:nvSpPr>
        <p:spPr>
          <a:xfrm>
            <a:off x="457200" y="1051560"/>
            <a:ext cx="8229600" cy="749808"/>
          </a:xfrm>
          <a:prstGeom prst="rect">
            <a:avLst/>
          </a:prstGeom>
          <a:solidFill>
            <a:srgbClr val="2E86DE"/>
          </a:solidFill>
          <a:ln/>
        </p:spPr>
        <p:txBody>
          <a:bodyPr/>
          <a:lstStyle/>
          <a:p>
            <a:endParaRPr lang="en-US"/>
          </a:p>
        </p:txBody>
      </p:sp>
      <p:sp>
        <p:nvSpPr>
          <p:cNvPr id="9" name="Text 6"/>
          <p:cNvSpPr/>
          <p:nvPr/>
        </p:nvSpPr>
        <p:spPr>
          <a:xfrm>
            <a:off x="685800" y="1088136"/>
            <a:ext cx="2286000" cy="29260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Cocoa Touch</a:t>
            </a:r>
            <a:endParaRPr lang="en-US" sz="1600" dirty="0"/>
          </a:p>
        </p:txBody>
      </p:sp>
      <p:sp>
        <p:nvSpPr>
          <p:cNvPr id="10" name="Text 7"/>
          <p:cNvSpPr/>
          <p:nvPr/>
        </p:nvSpPr>
        <p:spPr>
          <a:xfrm>
            <a:off x="685800" y="1399032"/>
            <a:ext cx="77724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top layer. User interface, gestures, multitasking, notifications, push services.</a:t>
            </a:r>
            <a:endParaRPr lang="en-US" sz="1200" dirty="0"/>
          </a:p>
        </p:txBody>
      </p:sp>
      <p:sp>
        <p:nvSpPr>
          <p:cNvPr id="11" name="Shape 8"/>
          <p:cNvSpPr/>
          <p:nvPr/>
        </p:nvSpPr>
        <p:spPr>
          <a:xfrm>
            <a:off x="457200" y="1920240"/>
            <a:ext cx="8229600" cy="749808"/>
          </a:xfrm>
          <a:prstGeom prst="rect">
            <a:avLst/>
          </a:prstGeom>
          <a:solidFill>
            <a:srgbClr val="0ABDE3"/>
          </a:solidFill>
          <a:ln/>
        </p:spPr>
        <p:txBody>
          <a:bodyPr/>
          <a:lstStyle/>
          <a:p>
            <a:endParaRPr lang="en-US"/>
          </a:p>
        </p:txBody>
      </p:sp>
      <p:sp>
        <p:nvSpPr>
          <p:cNvPr id="12" name="Text 9"/>
          <p:cNvSpPr/>
          <p:nvPr/>
        </p:nvSpPr>
        <p:spPr>
          <a:xfrm>
            <a:off x="685800" y="1956816"/>
            <a:ext cx="2286000" cy="29260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Media</a:t>
            </a:r>
            <a:endParaRPr lang="en-US" sz="1600" dirty="0"/>
          </a:p>
        </p:txBody>
      </p:sp>
      <p:sp>
        <p:nvSpPr>
          <p:cNvPr id="13" name="Text 10"/>
          <p:cNvSpPr/>
          <p:nvPr/>
        </p:nvSpPr>
        <p:spPr>
          <a:xfrm>
            <a:off x="685800" y="2267712"/>
            <a:ext cx="77724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Graphics, audio, video frameworks. Core Animation, AVFoundation, Metal.</a:t>
            </a:r>
            <a:endParaRPr lang="en-US" sz="1200" dirty="0"/>
          </a:p>
        </p:txBody>
      </p:sp>
      <p:sp>
        <p:nvSpPr>
          <p:cNvPr id="14" name="Shape 11"/>
          <p:cNvSpPr/>
          <p:nvPr/>
        </p:nvSpPr>
        <p:spPr>
          <a:xfrm>
            <a:off x="457200" y="2788920"/>
            <a:ext cx="8229600" cy="749808"/>
          </a:xfrm>
          <a:prstGeom prst="rect">
            <a:avLst/>
          </a:prstGeom>
          <a:solidFill>
            <a:srgbClr val="1A4B8C"/>
          </a:solidFill>
          <a:ln/>
        </p:spPr>
        <p:txBody>
          <a:bodyPr/>
          <a:lstStyle/>
          <a:p>
            <a:endParaRPr lang="en-US"/>
          </a:p>
        </p:txBody>
      </p:sp>
      <p:sp>
        <p:nvSpPr>
          <p:cNvPr id="15" name="Text 12"/>
          <p:cNvSpPr/>
          <p:nvPr/>
        </p:nvSpPr>
        <p:spPr>
          <a:xfrm>
            <a:off x="685800" y="2825496"/>
            <a:ext cx="2286000" cy="29260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Core Services</a:t>
            </a:r>
            <a:endParaRPr lang="en-US" sz="1600" dirty="0"/>
          </a:p>
        </p:txBody>
      </p:sp>
      <p:sp>
        <p:nvSpPr>
          <p:cNvPr id="16" name="Text 13"/>
          <p:cNvSpPr/>
          <p:nvPr/>
        </p:nvSpPr>
        <p:spPr>
          <a:xfrm>
            <a:off x="685800" y="3136392"/>
            <a:ext cx="77724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Networking, data storage, location, iCloud, Core Data, SQLite, Grand Central Dispatch.</a:t>
            </a:r>
            <a:endParaRPr lang="en-US" sz="1200" dirty="0"/>
          </a:p>
        </p:txBody>
      </p:sp>
      <p:sp>
        <p:nvSpPr>
          <p:cNvPr id="17" name="Shape 14"/>
          <p:cNvSpPr/>
          <p:nvPr/>
        </p:nvSpPr>
        <p:spPr>
          <a:xfrm>
            <a:off x="457200" y="3657600"/>
            <a:ext cx="8229600" cy="749808"/>
          </a:xfrm>
          <a:prstGeom prst="rect">
            <a:avLst/>
          </a:prstGeom>
          <a:solidFill>
            <a:srgbClr val="0A1628"/>
          </a:solidFill>
          <a:ln/>
        </p:spPr>
        <p:txBody>
          <a:bodyPr/>
          <a:lstStyle/>
          <a:p>
            <a:endParaRPr lang="en-US"/>
          </a:p>
        </p:txBody>
      </p:sp>
      <p:sp>
        <p:nvSpPr>
          <p:cNvPr id="18" name="Text 15"/>
          <p:cNvSpPr/>
          <p:nvPr/>
        </p:nvSpPr>
        <p:spPr>
          <a:xfrm>
            <a:off x="685800" y="3694176"/>
            <a:ext cx="2286000" cy="292608"/>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Core OS / Kernel</a:t>
            </a:r>
            <a:endParaRPr lang="en-US" sz="1600" dirty="0"/>
          </a:p>
        </p:txBody>
      </p:sp>
      <p:sp>
        <p:nvSpPr>
          <p:cNvPr id="19" name="Text 16"/>
          <p:cNvSpPr/>
          <p:nvPr/>
        </p:nvSpPr>
        <p:spPr>
          <a:xfrm>
            <a:off x="685800" y="4005072"/>
            <a:ext cx="77724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Darwin/XNU kernel, device drivers, security, low-level networking, Mach + BSD.</a:t>
            </a:r>
            <a:endParaRPr lang="en-US" sz="1200" dirty="0"/>
          </a:p>
        </p:txBody>
      </p:sp>
      <p:sp>
        <p:nvSpPr>
          <p:cNvPr id="20" name="Text 17"/>
          <p:cNvSpPr/>
          <p:nvPr/>
        </p:nvSpPr>
        <p:spPr>
          <a:xfrm>
            <a:off x="457200" y="4553712"/>
            <a:ext cx="8229600" cy="274320"/>
          </a:xfrm>
          <a:prstGeom prst="rect">
            <a:avLst/>
          </a:prstGeom>
          <a:noFill/>
          <a:ln/>
        </p:spPr>
        <p:txBody>
          <a:bodyPr wrap="square" lIns="0" tIns="0" rIns="0" bIns="0" rtlCol="0" anchor="ctr"/>
          <a:lstStyle/>
          <a:p>
            <a:pPr marL="0" indent="0">
              <a:buNone/>
            </a:pPr>
            <a:r>
              <a:rPr lang="en-US" sz="1100" i="1" dirty="0">
                <a:solidFill>
                  <a:srgbClr val="1A4B8C"/>
                </a:solidFill>
                <a:latin typeface="Calibri" pitchFamily="34" charset="0"/>
                <a:ea typeface="Calibri" pitchFamily="34" charset="-122"/>
                <a:cs typeface="Calibri" pitchFamily="34" charset="-120"/>
              </a:rPr>
              <a:t>Apps interact with the top layers. Each layer provides services to the layer above it.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Core OS: The Darwin Kernel</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Architecture – Christopher Lu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30</a:t>
            </a:r>
            <a:endParaRPr lang="en-US" sz="900" dirty="0"/>
          </a:p>
        </p:txBody>
      </p:sp>
      <p:sp>
        <p:nvSpPr>
          <p:cNvPr id="8" name="Shape 5"/>
          <p:cNvSpPr/>
          <p:nvPr/>
        </p:nvSpPr>
        <p:spPr>
          <a:xfrm>
            <a:off x="457200" y="1097280"/>
            <a:ext cx="3931920" cy="32918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XNU Kernel</a:t>
            </a:r>
            <a:endParaRPr lang="en-US" sz="1800" dirty="0"/>
          </a:p>
        </p:txBody>
      </p:sp>
      <p:sp>
        <p:nvSpPr>
          <p:cNvPr id="10" name="Text 7"/>
          <p:cNvSpPr/>
          <p:nvPr/>
        </p:nvSpPr>
        <p:spPr>
          <a:xfrm>
            <a:off x="685800" y="1691640"/>
            <a:ext cx="3474720" cy="24688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XNU = "X is Not Unix" — hybrid kernel</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Combines Mach microkernel + BSD subsystem</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Mach handles: process/thread management, IPC, virtual memory, scheduling</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BSD provides: POSIX compliance, file system, networking stack, user/group model</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Same kernel family as macOS</a:t>
            </a:r>
            <a:endParaRPr lang="en-US" sz="1200" dirty="0"/>
          </a:p>
        </p:txBody>
      </p:sp>
      <p:sp>
        <p:nvSpPr>
          <p:cNvPr id="11" name="Shape 8"/>
          <p:cNvSpPr/>
          <p:nvPr/>
        </p:nvSpPr>
        <p:spPr>
          <a:xfrm>
            <a:off x="4754880" y="1097280"/>
            <a:ext cx="393192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4983480" y="1188720"/>
            <a:ext cx="3474720" cy="27432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Key OS Concepts</a:t>
            </a:r>
            <a:endParaRPr lang="en-US" sz="1400" dirty="0"/>
          </a:p>
        </p:txBody>
      </p:sp>
      <p:sp>
        <p:nvSpPr>
          <p:cNvPr id="13" name="Text 10"/>
          <p:cNvSpPr/>
          <p:nvPr/>
        </p:nvSpPr>
        <p:spPr>
          <a:xfrm>
            <a:off x="4983480" y="1554480"/>
            <a:ext cx="3474720" cy="8229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Preemptive multitasking</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Virtual memory with paging</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No swap file — memory pressure kills apps</a:t>
            </a:r>
            <a:endParaRPr lang="en-US" sz="1200" dirty="0"/>
          </a:p>
        </p:txBody>
      </p:sp>
      <p:sp>
        <p:nvSpPr>
          <p:cNvPr id="14" name="Shape 11"/>
          <p:cNvSpPr/>
          <p:nvPr/>
        </p:nvSpPr>
        <p:spPr>
          <a:xfrm>
            <a:off x="4754880" y="2834640"/>
            <a:ext cx="393192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Text 12"/>
          <p:cNvSpPr/>
          <p:nvPr/>
        </p:nvSpPr>
        <p:spPr>
          <a:xfrm>
            <a:off x="4983480" y="2926080"/>
            <a:ext cx="3474720" cy="27432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Secure Boot Chain</a:t>
            </a:r>
            <a:endParaRPr lang="en-US" sz="1400" dirty="0"/>
          </a:p>
        </p:txBody>
      </p:sp>
      <p:sp>
        <p:nvSpPr>
          <p:cNvPr id="16" name="Text 13"/>
          <p:cNvSpPr/>
          <p:nvPr/>
        </p:nvSpPr>
        <p:spPr>
          <a:xfrm>
            <a:off x="4983480" y="3291840"/>
            <a:ext cx="3474720" cy="8229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Every step of the boot process is cryptographically signed. If any component is tampered with, the device will not boot.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Core Services &amp; Media Layers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Architecture – Christopher Lu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30</a:t>
            </a:r>
            <a:endParaRPr lang="en-US" sz="900" dirty="0"/>
          </a:p>
        </p:txBody>
      </p:sp>
      <p:sp>
        <p:nvSpPr>
          <p:cNvPr id="8" name="Shape 5"/>
          <p:cNvSpPr/>
          <p:nvPr/>
        </p:nvSpPr>
        <p:spPr>
          <a:xfrm>
            <a:off x="45720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457200" y="1097280"/>
            <a:ext cx="3931920" cy="384048"/>
          </a:xfrm>
          <a:prstGeom prst="rect">
            <a:avLst/>
          </a:prstGeom>
          <a:solidFill>
            <a:srgbClr val="1A4B8C"/>
          </a:solidFill>
          <a:ln/>
        </p:spPr>
        <p:txBody>
          <a:bodyPr/>
          <a:lstStyle/>
          <a:p>
            <a:endParaRPr lang="en-US"/>
          </a:p>
        </p:txBody>
      </p:sp>
      <p:sp>
        <p:nvSpPr>
          <p:cNvPr id="10" name="Text 7"/>
          <p:cNvSpPr/>
          <p:nvPr/>
        </p:nvSpPr>
        <p:spPr>
          <a:xfrm>
            <a:off x="640080" y="1124712"/>
            <a:ext cx="356616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Core Services</a:t>
            </a:r>
            <a:endParaRPr lang="en-US" sz="1400" dirty="0"/>
          </a:p>
        </p:txBody>
      </p:sp>
      <p:sp>
        <p:nvSpPr>
          <p:cNvPr id="11" name="Text 8"/>
          <p:cNvSpPr/>
          <p:nvPr/>
        </p:nvSpPr>
        <p:spPr>
          <a:xfrm>
            <a:off x="640080" y="1645920"/>
            <a:ext cx="3520440" cy="23774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Grand Central Dispatch (GCD) — manages concurrent tasks across CPU cores</a:t>
            </a:r>
            <a:endParaRPr lang="en-US" sz="1150" dirty="0"/>
          </a:p>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Core Data — object graph and persistence framework</a:t>
            </a:r>
            <a:endParaRPr lang="en-US" sz="1150" dirty="0"/>
          </a:p>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Core Location — GPS and location services</a:t>
            </a:r>
            <a:endParaRPr lang="en-US" sz="1150" dirty="0"/>
          </a:p>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CloudKit / iCloud — data syncing across devices</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Foundation — strings, collections, networking, file management</a:t>
            </a:r>
            <a:endParaRPr lang="en-US" sz="1150" dirty="0"/>
          </a:p>
        </p:txBody>
      </p:sp>
      <p:sp>
        <p:nvSpPr>
          <p:cNvPr id="12" name="Shape 9"/>
          <p:cNvSpPr/>
          <p:nvPr/>
        </p:nvSpPr>
        <p:spPr>
          <a:xfrm>
            <a:off x="475488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0"/>
          <p:cNvSpPr/>
          <p:nvPr/>
        </p:nvSpPr>
        <p:spPr>
          <a:xfrm>
            <a:off x="4754880" y="1097280"/>
            <a:ext cx="3931920" cy="384048"/>
          </a:xfrm>
          <a:prstGeom prst="rect">
            <a:avLst/>
          </a:prstGeom>
          <a:solidFill>
            <a:srgbClr val="0ABDE3"/>
          </a:solidFill>
          <a:ln/>
        </p:spPr>
        <p:txBody>
          <a:bodyPr/>
          <a:lstStyle/>
          <a:p>
            <a:endParaRPr lang="en-US"/>
          </a:p>
        </p:txBody>
      </p:sp>
      <p:sp>
        <p:nvSpPr>
          <p:cNvPr id="14" name="Text 11"/>
          <p:cNvSpPr/>
          <p:nvPr/>
        </p:nvSpPr>
        <p:spPr>
          <a:xfrm>
            <a:off x="4937760" y="1124712"/>
            <a:ext cx="356616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Media Layer</a:t>
            </a:r>
            <a:endParaRPr lang="en-US" sz="1400" dirty="0"/>
          </a:p>
        </p:txBody>
      </p:sp>
      <p:sp>
        <p:nvSpPr>
          <p:cNvPr id="15" name="Text 12"/>
          <p:cNvSpPr/>
          <p:nvPr/>
        </p:nvSpPr>
        <p:spPr>
          <a:xfrm>
            <a:off x="4937760" y="1645920"/>
            <a:ext cx="3520440" cy="23774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Metal — low-level GPU access for graphics and compute</a:t>
            </a:r>
            <a:endParaRPr lang="en-US" sz="1150" dirty="0"/>
          </a:p>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Core Animation — smooth UI animations and transitions</a:t>
            </a:r>
            <a:endParaRPr lang="en-US" sz="1150" dirty="0"/>
          </a:p>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AVFoundation — audio/video playback and recording</a:t>
            </a:r>
            <a:endParaRPr lang="en-US" sz="1150" dirty="0"/>
          </a:p>
          <a:p>
            <a:pPr marL="342900" indent="-342900">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Core Image — real-time image processing and filters</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SceneKit / RealityKit — 3D rendering and AR</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Cocoa Touch: The Application Layer</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Architecture – Christopher Lu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30</a:t>
            </a:r>
            <a:endParaRPr lang="en-US" sz="900" dirty="0"/>
          </a:p>
        </p:txBody>
      </p:sp>
      <p:sp>
        <p:nvSpPr>
          <p:cNvPr id="8" name="Shape 5"/>
          <p:cNvSpPr/>
          <p:nvPr/>
        </p:nvSpPr>
        <p:spPr>
          <a:xfrm>
            <a:off x="457200" y="1097280"/>
            <a:ext cx="822960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188720"/>
            <a:ext cx="7772400" cy="32004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What Is Cocoa Touch?</a:t>
            </a:r>
            <a:endParaRPr lang="en-US" sz="1600" dirty="0"/>
          </a:p>
        </p:txBody>
      </p:sp>
      <p:sp>
        <p:nvSpPr>
          <p:cNvPr id="10" name="Text 7"/>
          <p:cNvSpPr/>
          <p:nvPr/>
        </p:nvSpPr>
        <p:spPr>
          <a:xfrm>
            <a:off x="685800" y="1600200"/>
            <a:ext cx="7772400" cy="73152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Cocoa Touch is the application framework that developers use to build iOS apps. It provides the tools for building the user interface, handling touch input, managing app lifecycle events, and integrating with system services like notifications and multitasking.</a:t>
            </a:r>
            <a:endParaRPr lang="en-US" sz="1300" dirty="0"/>
          </a:p>
        </p:txBody>
      </p:sp>
      <p:sp>
        <p:nvSpPr>
          <p:cNvPr id="11" name="Shape 8"/>
          <p:cNvSpPr/>
          <p:nvPr/>
        </p:nvSpPr>
        <p:spPr>
          <a:xfrm>
            <a:off x="457200" y="2743200"/>
            <a:ext cx="2606040" cy="1645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594360" y="2834640"/>
            <a:ext cx="2331720" cy="32004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UIKit</a:t>
            </a:r>
            <a:endParaRPr lang="en-US" sz="1400" dirty="0"/>
          </a:p>
        </p:txBody>
      </p:sp>
      <p:sp>
        <p:nvSpPr>
          <p:cNvPr id="13" name="Text 10"/>
          <p:cNvSpPr/>
          <p:nvPr/>
        </p:nvSpPr>
        <p:spPr>
          <a:xfrm>
            <a:off x="594360" y="3200400"/>
            <a:ext cx="2331720" cy="10058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 primary UI framework.</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Buttons, labels, tables,</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navigation controllers.</a:t>
            </a:r>
            <a:endParaRPr lang="en-US" sz="1150" dirty="0"/>
          </a:p>
        </p:txBody>
      </p:sp>
      <p:sp>
        <p:nvSpPr>
          <p:cNvPr id="14" name="Shape 11"/>
          <p:cNvSpPr/>
          <p:nvPr/>
        </p:nvSpPr>
        <p:spPr>
          <a:xfrm>
            <a:off x="3291840" y="2743200"/>
            <a:ext cx="2606040" cy="1645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Text 12"/>
          <p:cNvSpPr/>
          <p:nvPr/>
        </p:nvSpPr>
        <p:spPr>
          <a:xfrm>
            <a:off x="3429000" y="2834640"/>
            <a:ext cx="2331720" cy="32004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SwiftUI</a:t>
            </a:r>
            <a:endParaRPr lang="en-US" sz="1400" dirty="0"/>
          </a:p>
        </p:txBody>
      </p:sp>
      <p:sp>
        <p:nvSpPr>
          <p:cNvPr id="16" name="Text 13"/>
          <p:cNvSpPr/>
          <p:nvPr/>
        </p:nvSpPr>
        <p:spPr>
          <a:xfrm>
            <a:off x="3429000" y="3200400"/>
            <a:ext cx="2331720" cy="10058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Modern declarative UI</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framework introduced</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in 2019.</a:t>
            </a:r>
            <a:endParaRPr lang="en-US" sz="1150" dirty="0"/>
          </a:p>
        </p:txBody>
      </p:sp>
      <p:sp>
        <p:nvSpPr>
          <p:cNvPr id="17" name="Shape 14"/>
          <p:cNvSpPr/>
          <p:nvPr/>
        </p:nvSpPr>
        <p:spPr>
          <a:xfrm>
            <a:off x="6126480" y="2743200"/>
            <a:ext cx="2606040" cy="1645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8" name="Text 15"/>
          <p:cNvSpPr/>
          <p:nvPr/>
        </p:nvSpPr>
        <p:spPr>
          <a:xfrm>
            <a:off x="6263640" y="2834640"/>
            <a:ext cx="2331720" cy="32004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App Lifecycle</a:t>
            </a:r>
            <a:endParaRPr lang="en-US" sz="1400" dirty="0"/>
          </a:p>
        </p:txBody>
      </p:sp>
      <p:sp>
        <p:nvSpPr>
          <p:cNvPr id="19" name="Text 16"/>
          <p:cNvSpPr/>
          <p:nvPr/>
        </p:nvSpPr>
        <p:spPr>
          <a:xfrm>
            <a:off x="6263640" y="3200400"/>
            <a:ext cx="2331720" cy="10058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Background, foreground,</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suspended states.</a:t>
            </a:r>
            <a:endParaRPr lang="en-US" sz="1150" dirty="0"/>
          </a:p>
          <a:p>
            <a:pPr marL="0" indent="0">
              <a:buNone/>
            </a:pPr>
            <a:r>
              <a:rPr lang="en-US" sz="1150" dirty="0">
                <a:solidFill>
                  <a:srgbClr val="64748B"/>
                </a:solidFill>
                <a:latin typeface="Calibri" pitchFamily="34" charset="0"/>
                <a:ea typeface="Calibri" pitchFamily="34" charset="-122"/>
                <a:cs typeface="Calibri" pitchFamily="34" charset="-120"/>
              </a:rPr>
              <a:t>Managed by the OS.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1463040"/>
            <a:ext cx="502920" cy="502920"/>
          </a:xfrm>
          <a:prstGeom prst="rect">
            <a:avLst/>
          </a:prstGeom>
        </p:spPr>
      </p:pic>
      <p:sp>
        <p:nvSpPr>
          <p:cNvPr id="4" name="Text 1"/>
          <p:cNvSpPr/>
          <p:nvPr/>
        </p:nvSpPr>
        <p:spPr>
          <a:xfrm>
            <a:off x="1371600" y="13716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iOS Features</a:t>
            </a:r>
            <a:endParaRPr lang="en-US" sz="3200" dirty="0"/>
          </a:p>
        </p:txBody>
      </p:sp>
      <p:sp>
        <p:nvSpPr>
          <p:cNvPr id="5" name="Text 2"/>
          <p:cNvSpPr/>
          <p:nvPr/>
        </p:nvSpPr>
        <p:spPr>
          <a:xfrm>
            <a:off x="640080" y="2286000"/>
            <a:ext cx="7863840" cy="457200"/>
          </a:xfrm>
          <a:prstGeom prst="rect">
            <a:avLst/>
          </a:prstGeom>
          <a:noFill/>
          <a:ln/>
        </p:spPr>
        <p:txBody>
          <a:bodyPr wrap="square" lIns="0" tIns="0" rIns="0" bIns="0" rtlCol="0" anchor="ctr"/>
          <a:lstStyle/>
          <a:p>
            <a:pPr marL="0" indent="0">
              <a:buNone/>
            </a:pPr>
            <a:r>
              <a:rPr lang="en-US" sz="1600" dirty="0">
                <a:solidFill>
                  <a:srgbClr val="54A0FF"/>
                </a:solidFill>
                <a:latin typeface="Calibri" pitchFamily="34" charset="0"/>
                <a:ea typeface="Calibri" pitchFamily="34" charset="-122"/>
                <a:cs typeface="Calibri" pitchFamily="34" charset="-120"/>
              </a:rPr>
              <a:t>What makes iOS easy and useful for everyday users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Multitasking &amp; Notifications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Features – Mohamed Abdou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 / 30</a:t>
            </a:r>
            <a:endParaRPr lang="en-US" sz="900" dirty="0"/>
          </a:p>
        </p:txBody>
      </p:sp>
      <p:sp>
        <p:nvSpPr>
          <p:cNvPr id="8" name="Shape 5"/>
          <p:cNvSpPr/>
          <p:nvPr/>
        </p:nvSpPr>
        <p:spPr>
          <a:xfrm>
            <a:off x="45720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Multitasking</a:t>
            </a:r>
            <a:endParaRPr lang="en-US" sz="1800" dirty="0"/>
          </a:p>
        </p:txBody>
      </p:sp>
      <p:sp>
        <p:nvSpPr>
          <p:cNvPr id="10" name="Text 7"/>
          <p:cNvSpPr/>
          <p:nvPr/>
        </p:nvSpPr>
        <p:spPr>
          <a:xfrm>
            <a:off x="685800" y="1691640"/>
            <a:ext cx="3474720" cy="228600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iOS can run many apps at the same time</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The OS decides which app gets CPU time</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Apps in the background use less power</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If memory is low, the OS closes old apps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This keeps the phone fast and smooth</a:t>
            </a:r>
            <a:endParaRPr lang="en-US" sz="1300" dirty="0"/>
          </a:p>
        </p:txBody>
      </p:sp>
      <p:sp>
        <p:nvSpPr>
          <p:cNvPr id="11" name="Shape 8"/>
          <p:cNvSpPr/>
          <p:nvPr/>
        </p:nvSpPr>
        <p:spPr>
          <a:xfrm>
            <a:off x="475488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498348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Notifications</a:t>
            </a:r>
            <a:endParaRPr lang="en-US" sz="1800" dirty="0"/>
          </a:p>
        </p:txBody>
      </p:sp>
      <p:sp>
        <p:nvSpPr>
          <p:cNvPr id="13" name="Text 10"/>
          <p:cNvSpPr/>
          <p:nvPr/>
        </p:nvSpPr>
        <p:spPr>
          <a:xfrm>
            <a:off x="4983480" y="1691640"/>
            <a:ext cx="3474720" cy="228600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Apps can send alerts to the Lock Screen</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Users choose which apps can send alerts</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Focus Mode filters alerts by time or activity</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Live Activities show real-time info (scores, delivery)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Notifications are grouped by app</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The App Store</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Features – Mohamed Abdou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 / 30</a:t>
            </a:r>
            <a:endParaRPr lang="en-US" sz="900" dirty="0"/>
          </a:p>
        </p:txBody>
      </p:sp>
      <p:sp>
        <p:nvSpPr>
          <p:cNvPr id="8" name="Shape 5"/>
          <p:cNvSpPr/>
          <p:nvPr/>
        </p:nvSpPr>
        <p:spPr>
          <a:xfrm>
            <a:off x="457200" y="1097280"/>
            <a:ext cx="822960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188720"/>
            <a:ext cx="7772400" cy="32004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The App Store is how users get apps on iOS.</a:t>
            </a:r>
            <a:endParaRPr lang="en-US" sz="1600" dirty="0"/>
          </a:p>
        </p:txBody>
      </p:sp>
      <p:sp>
        <p:nvSpPr>
          <p:cNvPr id="10" name="Text 7"/>
          <p:cNvSpPr/>
          <p:nvPr/>
        </p:nvSpPr>
        <p:spPr>
          <a:xfrm>
            <a:off x="685800" y="1600200"/>
            <a:ext cx="7772400" cy="50292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Apple checks every app before it goes live. This helps keep apps safe and high quality. Today there are about 1.8 million apps.</a:t>
            </a:r>
            <a:endParaRPr lang="en-US" sz="1300" dirty="0"/>
          </a:p>
        </p:txBody>
      </p:sp>
      <p:sp>
        <p:nvSpPr>
          <p:cNvPr id="11" name="Shape 8"/>
          <p:cNvSpPr/>
          <p:nvPr/>
        </p:nvSpPr>
        <p:spPr>
          <a:xfrm>
            <a:off x="457200" y="2560320"/>
            <a:ext cx="2606040"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457200" y="2651760"/>
            <a:ext cx="2606040" cy="548640"/>
          </a:xfrm>
          <a:prstGeom prst="rect">
            <a:avLst/>
          </a:prstGeom>
          <a:noFill/>
          <a:ln/>
        </p:spPr>
        <p:txBody>
          <a:bodyPr wrap="square" lIns="0" tIns="0" rIns="0" bIns="0" rtlCol="0" anchor="ctr"/>
          <a:lstStyle/>
          <a:p>
            <a:pPr marL="0" indent="0" algn="ctr">
              <a:buNone/>
            </a:pPr>
            <a:r>
              <a:rPr lang="en-US" sz="3200" b="1" dirty="0">
                <a:solidFill>
                  <a:srgbClr val="2E86DE"/>
                </a:solidFill>
                <a:latin typeface="Trebuchet MS" pitchFamily="34" charset="0"/>
                <a:ea typeface="Trebuchet MS" pitchFamily="34" charset="-122"/>
                <a:cs typeface="Trebuchet MS" pitchFamily="34" charset="-120"/>
              </a:rPr>
              <a:t>1.8M+</a:t>
            </a:r>
            <a:endParaRPr lang="en-US" sz="3200" dirty="0"/>
          </a:p>
        </p:txBody>
      </p:sp>
      <p:sp>
        <p:nvSpPr>
          <p:cNvPr id="13" name="Text 10"/>
          <p:cNvSpPr/>
          <p:nvPr/>
        </p:nvSpPr>
        <p:spPr>
          <a:xfrm>
            <a:off x="457200" y="3200400"/>
            <a:ext cx="260604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Apps on the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App Store</a:t>
            </a:r>
            <a:endParaRPr lang="en-US" sz="1200" dirty="0"/>
          </a:p>
        </p:txBody>
      </p:sp>
      <p:sp>
        <p:nvSpPr>
          <p:cNvPr id="14" name="Shape 11"/>
          <p:cNvSpPr/>
          <p:nvPr/>
        </p:nvSpPr>
        <p:spPr>
          <a:xfrm>
            <a:off x="3291840" y="2560320"/>
            <a:ext cx="2606040"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Text 12"/>
          <p:cNvSpPr/>
          <p:nvPr/>
        </p:nvSpPr>
        <p:spPr>
          <a:xfrm>
            <a:off x="3291840" y="2651760"/>
            <a:ext cx="2606040" cy="548640"/>
          </a:xfrm>
          <a:prstGeom prst="rect">
            <a:avLst/>
          </a:prstGeom>
          <a:noFill/>
          <a:ln/>
        </p:spPr>
        <p:txBody>
          <a:bodyPr wrap="square" lIns="0" tIns="0" rIns="0" bIns="0" rtlCol="0" anchor="ctr"/>
          <a:lstStyle/>
          <a:p>
            <a:pPr marL="0" indent="0" algn="ctr">
              <a:buNone/>
            </a:pPr>
            <a:r>
              <a:rPr lang="en-US" sz="3200" b="1" dirty="0">
                <a:solidFill>
                  <a:srgbClr val="2E86DE"/>
                </a:solidFill>
                <a:latin typeface="Trebuchet MS" pitchFamily="34" charset="0"/>
                <a:ea typeface="Trebuchet MS" pitchFamily="34" charset="-122"/>
                <a:cs typeface="Trebuchet MS" pitchFamily="34" charset="-120"/>
              </a:rPr>
              <a:t>650+</a:t>
            </a:r>
            <a:endParaRPr lang="en-US" sz="3200" dirty="0"/>
          </a:p>
        </p:txBody>
      </p:sp>
      <p:sp>
        <p:nvSpPr>
          <p:cNvPr id="16" name="Text 13"/>
          <p:cNvSpPr/>
          <p:nvPr/>
        </p:nvSpPr>
        <p:spPr>
          <a:xfrm>
            <a:off x="3291840" y="3200400"/>
            <a:ext cx="260604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Apps reviewed</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per week (avg)</a:t>
            </a:r>
            <a:endParaRPr lang="en-US" sz="1200" dirty="0"/>
          </a:p>
        </p:txBody>
      </p:sp>
      <p:sp>
        <p:nvSpPr>
          <p:cNvPr id="17" name="Shape 14"/>
          <p:cNvSpPr/>
          <p:nvPr/>
        </p:nvSpPr>
        <p:spPr>
          <a:xfrm>
            <a:off x="6126480" y="2560320"/>
            <a:ext cx="2606040"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8" name="Text 15"/>
          <p:cNvSpPr/>
          <p:nvPr/>
        </p:nvSpPr>
        <p:spPr>
          <a:xfrm>
            <a:off x="6126480" y="2651760"/>
            <a:ext cx="2606040" cy="548640"/>
          </a:xfrm>
          <a:prstGeom prst="rect">
            <a:avLst/>
          </a:prstGeom>
          <a:noFill/>
          <a:ln/>
        </p:spPr>
        <p:txBody>
          <a:bodyPr wrap="square" lIns="0" tIns="0" rIns="0" bIns="0" rtlCol="0" anchor="ctr"/>
          <a:lstStyle/>
          <a:p>
            <a:pPr marL="0" indent="0" algn="ctr">
              <a:buNone/>
            </a:pPr>
            <a:r>
              <a:rPr lang="en-US" sz="3200" b="1" dirty="0">
                <a:solidFill>
                  <a:srgbClr val="2E86DE"/>
                </a:solidFill>
                <a:latin typeface="Trebuchet MS" pitchFamily="34" charset="0"/>
                <a:ea typeface="Trebuchet MS" pitchFamily="34" charset="-122"/>
                <a:cs typeface="Trebuchet MS" pitchFamily="34" charset="-120"/>
              </a:rPr>
              <a:t>$1.1T</a:t>
            </a:r>
            <a:endParaRPr lang="en-US" sz="3200" dirty="0"/>
          </a:p>
        </p:txBody>
      </p:sp>
      <p:sp>
        <p:nvSpPr>
          <p:cNvPr id="19" name="Text 16"/>
          <p:cNvSpPr/>
          <p:nvPr/>
        </p:nvSpPr>
        <p:spPr>
          <a:xfrm>
            <a:off x="6126480" y="3200400"/>
            <a:ext cx="260604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Paid to developers</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since 2008</a:t>
            </a:r>
            <a:endParaRPr lang="en-US" sz="1200" dirty="0"/>
          </a:p>
        </p:txBody>
      </p:sp>
      <p:sp>
        <p:nvSpPr>
          <p:cNvPr id="20" name="Text 17"/>
          <p:cNvSpPr/>
          <p:nvPr/>
        </p:nvSpPr>
        <p:spPr>
          <a:xfrm>
            <a:off x="457200" y="4114800"/>
            <a:ext cx="8229600" cy="320040"/>
          </a:xfrm>
          <a:prstGeom prst="rect">
            <a:avLst/>
          </a:prstGeom>
          <a:noFill/>
          <a:ln/>
        </p:spPr>
        <p:txBody>
          <a:bodyPr wrap="square" lIns="0" tIns="0" rIns="0" bIns="0" rtlCol="0" anchor="ctr"/>
          <a:lstStyle/>
          <a:p>
            <a:pPr marL="0" indent="0">
              <a:buNone/>
            </a:pPr>
            <a:r>
              <a:rPr lang="en-US" sz="1200" i="1" dirty="0">
                <a:solidFill>
                  <a:srgbClr val="1A4B8C"/>
                </a:solidFill>
                <a:latin typeface="Calibri" pitchFamily="34" charset="0"/>
                <a:ea typeface="Calibri" pitchFamily="34" charset="-122"/>
                <a:cs typeface="Calibri" pitchFamily="34" charset="-120"/>
              </a:rPr>
              <a:t>In the EU, iOS 26 now allows other app stores due to the Digital Markets Act.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Siri &amp; Apple Intelligence</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Features – Mohamed Abdou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 / 30</a:t>
            </a:r>
            <a:endParaRPr lang="en-US" sz="900" dirty="0"/>
          </a:p>
        </p:txBody>
      </p:sp>
      <p:sp>
        <p:nvSpPr>
          <p:cNvPr id="8" name="Shape 5"/>
          <p:cNvSpPr/>
          <p:nvPr/>
        </p:nvSpPr>
        <p:spPr>
          <a:xfrm>
            <a:off x="45720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Siri</a:t>
            </a:r>
            <a:endParaRPr lang="en-US" sz="1800" dirty="0"/>
          </a:p>
        </p:txBody>
      </p:sp>
      <p:sp>
        <p:nvSpPr>
          <p:cNvPr id="10" name="Text 7"/>
          <p:cNvSpPr/>
          <p:nvPr/>
        </p:nvSpPr>
        <p:spPr>
          <a:xfrm>
            <a:off x="685800" y="1691640"/>
            <a:ext cx="3474720" cy="20116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Voice assistant — built into iOS since 2011</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Can set timers, send texts, play music</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Works with other apps too</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Getting smarter with AI in iOS 26</a:t>
            </a:r>
            <a:endParaRPr lang="en-US" sz="1300" dirty="0"/>
          </a:p>
        </p:txBody>
      </p:sp>
      <p:sp>
        <p:nvSpPr>
          <p:cNvPr id="11" name="Shape 8"/>
          <p:cNvSpPr/>
          <p:nvPr/>
        </p:nvSpPr>
        <p:spPr>
          <a:xfrm>
            <a:off x="475488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498348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Apple Intelligence</a:t>
            </a:r>
            <a:endParaRPr lang="en-US" sz="1800" dirty="0"/>
          </a:p>
        </p:txBody>
      </p:sp>
      <p:sp>
        <p:nvSpPr>
          <p:cNvPr id="13" name="Text 10"/>
          <p:cNvSpPr/>
          <p:nvPr/>
        </p:nvSpPr>
        <p:spPr>
          <a:xfrm>
            <a:off x="4983480" y="1691640"/>
            <a:ext cx="3474720" cy="20116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Apple's AI system — started with iOS 18</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Runs on your phone for privacy</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Can write text, make images, and summarize</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Hard tasks go to Private Cloud Compute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Accessibility &amp; Ease of Use</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Features – Mohamed Abdou</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 / 30</a:t>
            </a:r>
            <a:endParaRPr lang="en-US" sz="900" dirty="0"/>
          </a:p>
        </p:txBody>
      </p:sp>
      <p:sp>
        <p:nvSpPr>
          <p:cNvPr id="8" name="Shape 5"/>
          <p:cNvSpPr/>
          <p:nvPr/>
        </p:nvSpPr>
        <p:spPr>
          <a:xfrm>
            <a:off x="457200" y="1097280"/>
            <a:ext cx="822960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188720"/>
            <a:ext cx="7772400" cy="32004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iOS is made so everyone can use it — including people with disabilities.</a:t>
            </a:r>
            <a:endParaRPr lang="en-US" sz="1500" dirty="0"/>
          </a:p>
        </p:txBody>
      </p:sp>
      <p:sp>
        <p:nvSpPr>
          <p:cNvPr id="10" name="Text 7"/>
          <p:cNvSpPr/>
          <p:nvPr/>
        </p:nvSpPr>
        <p:spPr>
          <a:xfrm>
            <a:off x="685800" y="1554480"/>
            <a:ext cx="7772400" cy="4572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Apple has won awards for making their devices work for people who are blind, deaf, or have limited movement.</a:t>
            </a:r>
            <a:endParaRPr lang="en-US" sz="1300" dirty="0"/>
          </a:p>
        </p:txBody>
      </p:sp>
      <p:sp>
        <p:nvSpPr>
          <p:cNvPr id="11" name="Shape 8"/>
          <p:cNvSpPr/>
          <p:nvPr/>
        </p:nvSpPr>
        <p:spPr>
          <a:xfrm>
            <a:off x="457200" y="2560320"/>
            <a:ext cx="260604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9"/>
          <p:cNvSpPr/>
          <p:nvPr/>
        </p:nvSpPr>
        <p:spPr>
          <a:xfrm>
            <a:off x="1325880" y="2697480"/>
            <a:ext cx="731520" cy="731520"/>
          </a:xfrm>
          <a:prstGeom prst="ellipse">
            <a:avLst/>
          </a:prstGeom>
          <a:solidFill>
            <a:srgbClr val="2E86D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1481328" y="2852928"/>
            <a:ext cx="420624" cy="420624"/>
          </a:xfrm>
          <a:prstGeom prst="rect">
            <a:avLst/>
          </a:prstGeom>
        </p:spPr>
      </p:pic>
      <p:sp>
        <p:nvSpPr>
          <p:cNvPr id="14" name="Text 10"/>
          <p:cNvSpPr/>
          <p:nvPr/>
        </p:nvSpPr>
        <p:spPr>
          <a:xfrm>
            <a:off x="640080" y="3520440"/>
            <a:ext cx="224028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VoiceOver</a:t>
            </a:r>
            <a:endParaRPr lang="en-US" sz="1300" dirty="0"/>
          </a:p>
        </p:txBody>
      </p:sp>
      <p:sp>
        <p:nvSpPr>
          <p:cNvPr id="15" name="Text 11"/>
          <p:cNvSpPr/>
          <p:nvPr/>
        </p:nvSpPr>
        <p:spPr>
          <a:xfrm>
            <a:off x="640080" y="3822192"/>
            <a:ext cx="2240280" cy="502920"/>
          </a:xfrm>
          <a:prstGeom prst="rect">
            <a:avLst/>
          </a:prstGeom>
          <a:noFill/>
          <a:ln/>
        </p:spPr>
        <p:txBody>
          <a:bodyPr wrap="square" lIns="0" tIns="0" rIns="0" bIns="0"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Reads the screen</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out loud for blind</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or low-vision users.</a:t>
            </a:r>
            <a:endParaRPr lang="en-US" sz="1150" dirty="0"/>
          </a:p>
        </p:txBody>
      </p:sp>
      <p:sp>
        <p:nvSpPr>
          <p:cNvPr id="16" name="Shape 12"/>
          <p:cNvSpPr/>
          <p:nvPr/>
        </p:nvSpPr>
        <p:spPr>
          <a:xfrm>
            <a:off x="3291840" y="2560320"/>
            <a:ext cx="260604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3"/>
          <p:cNvSpPr/>
          <p:nvPr/>
        </p:nvSpPr>
        <p:spPr>
          <a:xfrm>
            <a:off x="4160520" y="2697480"/>
            <a:ext cx="731520" cy="731520"/>
          </a:xfrm>
          <a:prstGeom prst="ellipse">
            <a:avLst/>
          </a:prstGeom>
          <a:solidFill>
            <a:srgbClr val="2E86D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4315968" y="2852928"/>
            <a:ext cx="420624" cy="420624"/>
          </a:xfrm>
          <a:prstGeom prst="rect">
            <a:avLst/>
          </a:prstGeom>
        </p:spPr>
      </p:pic>
      <p:sp>
        <p:nvSpPr>
          <p:cNvPr id="19" name="Text 14"/>
          <p:cNvSpPr/>
          <p:nvPr/>
        </p:nvSpPr>
        <p:spPr>
          <a:xfrm>
            <a:off x="3474720" y="3520440"/>
            <a:ext cx="224028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AssistiveTouch</a:t>
            </a:r>
            <a:endParaRPr lang="en-US" sz="1300" dirty="0"/>
          </a:p>
        </p:txBody>
      </p:sp>
      <p:sp>
        <p:nvSpPr>
          <p:cNvPr id="20" name="Text 15"/>
          <p:cNvSpPr/>
          <p:nvPr/>
        </p:nvSpPr>
        <p:spPr>
          <a:xfrm>
            <a:off x="3474720" y="3822192"/>
            <a:ext cx="2240280" cy="502920"/>
          </a:xfrm>
          <a:prstGeom prst="rect">
            <a:avLst/>
          </a:prstGeom>
          <a:noFill/>
          <a:ln/>
        </p:spPr>
        <p:txBody>
          <a:bodyPr wrap="square" lIns="0" tIns="0" rIns="0" bIns="0"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Lets users control</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the phone without</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physical buttons.</a:t>
            </a:r>
            <a:endParaRPr lang="en-US" sz="1150" dirty="0"/>
          </a:p>
        </p:txBody>
      </p:sp>
      <p:sp>
        <p:nvSpPr>
          <p:cNvPr id="21" name="Shape 16"/>
          <p:cNvSpPr/>
          <p:nvPr/>
        </p:nvSpPr>
        <p:spPr>
          <a:xfrm>
            <a:off x="6126480" y="2560320"/>
            <a:ext cx="260604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2" name="Shape 17"/>
          <p:cNvSpPr/>
          <p:nvPr/>
        </p:nvSpPr>
        <p:spPr>
          <a:xfrm>
            <a:off x="6995160" y="2697480"/>
            <a:ext cx="731520" cy="731520"/>
          </a:xfrm>
          <a:prstGeom prst="ellipse">
            <a:avLst/>
          </a:prstGeom>
          <a:solidFill>
            <a:srgbClr val="2E86DE"/>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7150608" y="2852928"/>
            <a:ext cx="420624" cy="420624"/>
          </a:xfrm>
          <a:prstGeom prst="rect">
            <a:avLst/>
          </a:prstGeom>
        </p:spPr>
      </p:pic>
      <p:sp>
        <p:nvSpPr>
          <p:cNvPr id="24" name="Text 18"/>
          <p:cNvSpPr/>
          <p:nvPr/>
        </p:nvSpPr>
        <p:spPr>
          <a:xfrm>
            <a:off x="6309360" y="3520440"/>
            <a:ext cx="224028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Live Captions</a:t>
            </a:r>
            <a:endParaRPr lang="en-US" sz="1300" dirty="0"/>
          </a:p>
        </p:txBody>
      </p:sp>
      <p:sp>
        <p:nvSpPr>
          <p:cNvPr id="25" name="Text 19"/>
          <p:cNvSpPr/>
          <p:nvPr/>
        </p:nvSpPr>
        <p:spPr>
          <a:xfrm>
            <a:off x="6309360" y="3822192"/>
            <a:ext cx="2240280" cy="502920"/>
          </a:xfrm>
          <a:prstGeom prst="rect">
            <a:avLst/>
          </a:prstGeom>
          <a:noFill/>
          <a:ln/>
        </p:spPr>
        <p:txBody>
          <a:bodyPr wrap="square" lIns="0" tIns="0" rIns="0" bIns="0"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Shows text for</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sounds in real time</a:t>
            </a:r>
            <a:endParaRPr lang="en-US" sz="1150" dirty="0"/>
          </a:p>
          <a:p>
            <a:pPr marL="0" indent="0" algn="ctr">
              <a:buNone/>
            </a:pPr>
            <a:r>
              <a:rPr lang="en-US" sz="1150" dirty="0">
                <a:solidFill>
                  <a:srgbClr val="64748B"/>
                </a:solidFill>
                <a:latin typeface="Calibri" pitchFamily="34" charset="0"/>
                <a:ea typeface="Calibri" pitchFamily="34" charset="-122"/>
                <a:cs typeface="Calibri" pitchFamily="34" charset="-120"/>
              </a:rPr>
              <a:t>during calls/videos.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1463040"/>
            <a:ext cx="502920" cy="502920"/>
          </a:xfrm>
          <a:prstGeom prst="rect">
            <a:avLst/>
          </a:prstGeom>
        </p:spPr>
      </p:pic>
      <p:sp>
        <p:nvSpPr>
          <p:cNvPr id="4" name="Text 1"/>
          <p:cNvSpPr/>
          <p:nvPr/>
        </p:nvSpPr>
        <p:spPr>
          <a:xfrm>
            <a:off x="1371600" y="13716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iOS Security</a:t>
            </a:r>
            <a:endParaRPr lang="en-US" sz="3200" dirty="0"/>
          </a:p>
        </p:txBody>
      </p:sp>
      <p:sp>
        <p:nvSpPr>
          <p:cNvPr id="5" name="Text 2"/>
          <p:cNvSpPr/>
          <p:nvPr/>
        </p:nvSpPr>
        <p:spPr>
          <a:xfrm>
            <a:off x="640080" y="2286000"/>
            <a:ext cx="7863840" cy="457200"/>
          </a:xfrm>
          <a:prstGeom prst="rect">
            <a:avLst/>
          </a:prstGeom>
          <a:noFill/>
          <a:ln/>
        </p:spPr>
        <p:txBody>
          <a:bodyPr wrap="square" lIns="0" tIns="0" rIns="0" bIns="0" rtlCol="0" anchor="ctr"/>
          <a:lstStyle/>
          <a:p>
            <a:pPr marL="0" indent="0">
              <a:buNone/>
            </a:pPr>
            <a:r>
              <a:rPr lang="en-US" sz="1600" dirty="0">
                <a:solidFill>
                  <a:srgbClr val="54A0FF"/>
                </a:solidFill>
                <a:latin typeface="Calibri" pitchFamily="34" charset="0"/>
                <a:ea typeface="Calibri" pitchFamily="34" charset="-122"/>
                <a:cs typeface="Calibri" pitchFamily="34" charset="-120"/>
              </a:rPr>
              <a:t>How iOS protects users and their data</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Sandboxing &amp; App Permissions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Security – Matthew Bosworth</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 / 30</a:t>
            </a:r>
            <a:endParaRPr lang="en-US" sz="900" dirty="0"/>
          </a:p>
        </p:txBody>
      </p:sp>
      <p:sp>
        <p:nvSpPr>
          <p:cNvPr id="8" name="Shape 5"/>
          <p:cNvSpPr/>
          <p:nvPr/>
        </p:nvSpPr>
        <p:spPr>
          <a:xfrm>
            <a:off x="45720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App Sandboxing</a:t>
            </a:r>
            <a:endParaRPr lang="en-US" sz="1800" dirty="0"/>
          </a:p>
        </p:txBody>
      </p:sp>
      <p:sp>
        <p:nvSpPr>
          <p:cNvPr id="10" name="Text 7"/>
          <p:cNvSpPr/>
          <p:nvPr/>
        </p:nvSpPr>
        <p:spPr>
          <a:xfrm>
            <a:off x="685800" y="1691640"/>
            <a:ext cx="3474720" cy="22860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Every app runs in its own isolated "sandbox"</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Cannot access other apps' data or files</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Cannot access hardware (camera, mic) without permission</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If one app is compromised, others stay safe</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Based on Unix file permissions and mandatory access controls</a:t>
            </a:r>
            <a:endParaRPr lang="en-US" sz="1200" dirty="0"/>
          </a:p>
        </p:txBody>
      </p:sp>
      <p:sp>
        <p:nvSpPr>
          <p:cNvPr id="11" name="Shape 8"/>
          <p:cNvSpPr/>
          <p:nvPr/>
        </p:nvSpPr>
        <p:spPr>
          <a:xfrm>
            <a:off x="475488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4983480" y="1234440"/>
            <a:ext cx="3474720" cy="320040"/>
          </a:xfrm>
          <a:prstGeom prst="rect">
            <a:avLst/>
          </a:prstGeom>
          <a:noFill/>
          <a:ln/>
        </p:spPr>
        <p:txBody>
          <a:bodyPr wrap="square" lIns="0" tIns="0" rIns="0" bIns="0" rtlCol="0" anchor="ctr"/>
          <a:lstStyle/>
          <a:p>
            <a:pPr marL="0" indent="0">
              <a:buNone/>
            </a:pPr>
            <a:r>
              <a:rPr lang="en-US" sz="1800" b="1" dirty="0">
                <a:solidFill>
                  <a:srgbClr val="2E86DE"/>
                </a:solidFill>
                <a:latin typeface="Trebuchet MS" pitchFamily="34" charset="0"/>
                <a:ea typeface="Trebuchet MS" pitchFamily="34" charset="-122"/>
                <a:cs typeface="Trebuchet MS" pitchFamily="34" charset="-120"/>
              </a:rPr>
              <a:t>Permission System</a:t>
            </a:r>
            <a:endParaRPr lang="en-US" sz="1800" dirty="0"/>
          </a:p>
        </p:txBody>
      </p:sp>
      <p:sp>
        <p:nvSpPr>
          <p:cNvPr id="13" name="Text 10"/>
          <p:cNvSpPr/>
          <p:nvPr/>
        </p:nvSpPr>
        <p:spPr>
          <a:xfrm>
            <a:off x="4983480" y="1691640"/>
            <a:ext cx="3474720" cy="22860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Apps must request access to sensitive data</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Camera, mic, location, contacts, photos — all need user consent</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Users can revoke permissions at any time</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"Allow Once" option for one-time access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App Tracking Transparency requires opt-in for ad tracking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Biometrics &amp; Data Encryption</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Security – Matthew Bosworth</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 / 30</a:t>
            </a:r>
            <a:endParaRPr lang="en-US" sz="900" dirty="0"/>
          </a:p>
        </p:txBody>
      </p:sp>
      <p:sp>
        <p:nvSpPr>
          <p:cNvPr id="8" name="Shape 5"/>
          <p:cNvSpPr/>
          <p:nvPr/>
        </p:nvSpPr>
        <p:spPr>
          <a:xfrm>
            <a:off x="457200" y="1097280"/>
            <a:ext cx="2606040" cy="2743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1325880" y="1280160"/>
            <a:ext cx="731520" cy="731520"/>
          </a:xfrm>
          <a:prstGeom prst="ellipse">
            <a:avLst/>
          </a:prstGeom>
          <a:solidFill>
            <a:srgbClr val="2E86DE"/>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1481328" y="1435608"/>
            <a:ext cx="420624" cy="420624"/>
          </a:xfrm>
          <a:prstGeom prst="rect">
            <a:avLst/>
          </a:prstGeom>
        </p:spPr>
      </p:pic>
      <p:sp>
        <p:nvSpPr>
          <p:cNvPr id="11" name="Text 7"/>
          <p:cNvSpPr/>
          <p:nvPr/>
        </p:nvSpPr>
        <p:spPr>
          <a:xfrm>
            <a:off x="640080" y="2194560"/>
            <a:ext cx="224028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Touch ID</a:t>
            </a:r>
            <a:endParaRPr lang="en-US" sz="1500" dirty="0"/>
          </a:p>
        </p:txBody>
      </p:sp>
      <p:sp>
        <p:nvSpPr>
          <p:cNvPr id="12" name="Text 8"/>
          <p:cNvSpPr/>
          <p:nvPr/>
        </p:nvSpPr>
        <p:spPr>
          <a:xfrm>
            <a:off x="640080" y="2560320"/>
            <a:ext cx="2240280" cy="100584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Fingerprint scanner.</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Stores data in the</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Secure Enclave chip.</a:t>
            </a:r>
            <a:endParaRPr lang="en-US" sz="1200" dirty="0"/>
          </a:p>
        </p:txBody>
      </p:sp>
      <p:sp>
        <p:nvSpPr>
          <p:cNvPr id="13" name="Shape 9"/>
          <p:cNvSpPr/>
          <p:nvPr/>
        </p:nvSpPr>
        <p:spPr>
          <a:xfrm>
            <a:off x="3291840" y="1097280"/>
            <a:ext cx="2606040" cy="2743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0"/>
          <p:cNvSpPr/>
          <p:nvPr/>
        </p:nvSpPr>
        <p:spPr>
          <a:xfrm>
            <a:off x="4160520" y="1280160"/>
            <a:ext cx="731520" cy="731520"/>
          </a:xfrm>
          <a:prstGeom prst="ellipse">
            <a:avLst/>
          </a:prstGeom>
          <a:solidFill>
            <a:srgbClr val="2E86DE"/>
          </a:solidFill>
          <a:ln/>
        </p:spPr>
        <p:txBody>
          <a:bodyPr/>
          <a:lstStyle/>
          <a:p>
            <a:endParaRPr lang="en-US"/>
          </a:p>
        </p:txBody>
      </p:sp>
      <p:pic>
        <p:nvPicPr>
          <p:cNvPr id="15" name="Image 2" descr="preencoded.png"/>
          <p:cNvPicPr>
            <a:picLocks noChangeAspect="1"/>
          </p:cNvPicPr>
          <p:nvPr/>
        </p:nvPicPr>
        <p:blipFill>
          <a:blip r:embed="rId4"/>
          <a:stretch>
            <a:fillRect/>
          </a:stretch>
        </p:blipFill>
        <p:spPr>
          <a:xfrm>
            <a:off x="4315968" y="1435608"/>
            <a:ext cx="420624" cy="420624"/>
          </a:xfrm>
          <a:prstGeom prst="rect">
            <a:avLst/>
          </a:prstGeom>
        </p:spPr>
      </p:pic>
      <p:sp>
        <p:nvSpPr>
          <p:cNvPr id="16" name="Text 11"/>
          <p:cNvSpPr/>
          <p:nvPr/>
        </p:nvSpPr>
        <p:spPr>
          <a:xfrm>
            <a:off x="3474720" y="2194560"/>
            <a:ext cx="224028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Face ID</a:t>
            </a:r>
            <a:endParaRPr lang="en-US" sz="1500" dirty="0"/>
          </a:p>
        </p:txBody>
      </p:sp>
      <p:sp>
        <p:nvSpPr>
          <p:cNvPr id="17" name="Text 12"/>
          <p:cNvSpPr/>
          <p:nvPr/>
        </p:nvSpPr>
        <p:spPr>
          <a:xfrm>
            <a:off x="3474720" y="2560320"/>
            <a:ext cx="2240280" cy="100584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3D facial recognition.</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30,000 infrared dots</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map your face.</a:t>
            </a:r>
            <a:endParaRPr lang="en-US" sz="1200" dirty="0"/>
          </a:p>
        </p:txBody>
      </p:sp>
      <p:sp>
        <p:nvSpPr>
          <p:cNvPr id="18" name="Shape 13"/>
          <p:cNvSpPr/>
          <p:nvPr/>
        </p:nvSpPr>
        <p:spPr>
          <a:xfrm>
            <a:off x="6126480" y="1097280"/>
            <a:ext cx="2606040" cy="2743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4"/>
          <p:cNvSpPr/>
          <p:nvPr/>
        </p:nvSpPr>
        <p:spPr>
          <a:xfrm>
            <a:off x="6995160" y="1280160"/>
            <a:ext cx="731520" cy="731520"/>
          </a:xfrm>
          <a:prstGeom prst="ellipse">
            <a:avLst/>
          </a:prstGeom>
          <a:solidFill>
            <a:srgbClr val="2E86DE"/>
          </a:solidFill>
          <a:ln/>
        </p:spPr>
        <p:txBody>
          <a:bodyPr/>
          <a:lstStyle/>
          <a:p>
            <a:endParaRPr lang="en-US"/>
          </a:p>
        </p:txBody>
      </p:sp>
      <p:pic>
        <p:nvPicPr>
          <p:cNvPr id="20" name="Image 3" descr="preencoded.png"/>
          <p:cNvPicPr>
            <a:picLocks noChangeAspect="1"/>
          </p:cNvPicPr>
          <p:nvPr/>
        </p:nvPicPr>
        <p:blipFill>
          <a:blip r:embed="rId5"/>
          <a:stretch>
            <a:fillRect/>
          </a:stretch>
        </p:blipFill>
        <p:spPr>
          <a:xfrm>
            <a:off x="7150608" y="1435608"/>
            <a:ext cx="420624" cy="420624"/>
          </a:xfrm>
          <a:prstGeom prst="rect">
            <a:avLst/>
          </a:prstGeom>
        </p:spPr>
      </p:pic>
      <p:sp>
        <p:nvSpPr>
          <p:cNvPr id="21" name="Text 15"/>
          <p:cNvSpPr/>
          <p:nvPr/>
        </p:nvSpPr>
        <p:spPr>
          <a:xfrm>
            <a:off x="6309360" y="2194560"/>
            <a:ext cx="224028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Data Encryption</a:t>
            </a:r>
            <a:endParaRPr lang="en-US" sz="1500" dirty="0"/>
          </a:p>
        </p:txBody>
      </p:sp>
      <p:sp>
        <p:nvSpPr>
          <p:cNvPr id="22" name="Text 16"/>
          <p:cNvSpPr/>
          <p:nvPr/>
        </p:nvSpPr>
        <p:spPr>
          <a:xfrm>
            <a:off x="6309360" y="2560320"/>
            <a:ext cx="2240280" cy="100584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All data encrypted</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on device. AES-256.</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Locked to your passcode.</a:t>
            </a:r>
            <a:endParaRPr lang="en-US" sz="1200" dirty="0"/>
          </a:p>
        </p:txBody>
      </p:sp>
      <p:sp>
        <p:nvSpPr>
          <p:cNvPr id="23" name="Text 17"/>
          <p:cNvSpPr/>
          <p:nvPr/>
        </p:nvSpPr>
        <p:spPr>
          <a:xfrm>
            <a:off x="457200" y="4114800"/>
            <a:ext cx="8229600" cy="411480"/>
          </a:xfrm>
          <a:prstGeom prst="rect">
            <a:avLst/>
          </a:prstGeom>
          <a:noFill/>
          <a:ln/>
        </p:spPr>
        <p:txBody>
          <a:bodyPr wrap="square" lIns="0" tIns="0" rIns="0" bIns="0" rtlCol="0" anchor="ctr"/>
          <a:lstStyle/>
          <a:p>
            <a:pPr marL="0" indent="0">
              <a:buNone/>
            </a:pPr>
            <a:r>
              <a:rPr lang="en-US" sz="1200" i="1" dirty="0">
                <a:solidFill>
                  <a:srgbClr val="1A4B8C"/>
                </a:solidFill>
                <a:latin typeface="Calibri" pitchFamily="34" charset="0"/>
                <a:ea typeface="Calibri" pitchFamily="34" charset="-122"/>
                <a:cs typeface="Calibri" pitchFamily="34" charset="-120"/>
              </a:rPr>
              <a:t>The Secure Enclave is a separate processor on the chip. It handles biometric data and encryption keys. Even Apple cannot access it.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Secure Boot &amp; Code Signing</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Security – Matthew Bosworth</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26 / 30</a:t>
            </a:r>
            <a:endParaRPr lang="en-US" sz="900" dirty="0"/>
          </a:p>
        </p:txBody>
      </p:sp>
      <p:sp>
        <p:nvSpPr>
          <p:cNvPr id="8" name="Shape 5"/>
          <p:cNvSpPr/>
          <p:nvPr/>
        </p:nvSpPr>
        <p:spPr>
          <a:xfrm>
            <a:off x="457200" y="1097280"/>
            <a:ext cx="822960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188720"/>
            <a:ext cx="7772400" cy="32004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Secure Boot Chain</a:t>
            </a:r>
            <a:endParaRPr lang="en-US" sz="1600" dirty="0"/>
          </a:p>
        </p:txBody>
      </p:sp>
      <p:sp>
        <p:nvSpPr>
          <p:cNvPr id="10" name="Text 7"/>
          <p:cNvSpPr/>
          <p:nvPr/>
        </p:nvSpPr>
        <p:spPr>
          <a:xfrm>
            <a:off x="685800" y="1600200"/>
            <a:ext cx="7772400" cy="77724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When an iPhone starts up, every step is verified with cryptographic signatures. If any component has been modified or tampered with, the boot process stops. This prevents rootkits and unauthorized firmware modifications.</a:t>
            </a:r>
            <a:endParaRPr lang="en-US" sz="1300" dirty="0"/>
          </a:p>
        </p:txBody>
      </p:sp>
      <p:sp>
        <p:nvSpPr>
          <p:cNvPr id="11" name="Shape 8"/>
          <p:cNvSpPr/>
          <p:nvPr/>
        </p:nvSpPr>
        <p:spPr>
          <a:xfrm>
            <a:off x="457200" y="2834640"/>
            <a:ext cx="3931920" cy="1554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685800" y="2926080"/>
            <a:ext cx="3474720" cy="27432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Code Signing</a:t>
            </a:r>
            <a:endParaRPr lang="en-US" sz="1400" dirty="0"/>
          </a:p>
        </p:txBody>
      </p:sp>
      <p:sp>
        <p:nvSpPr>
          <p:cNvPr id="13" name="Text 10"/>
          <p:cNvSpPr/>
          <p:nvPr/>
        </p:nvSpPr>
        <p:spPr>
          <a:xfrm>
            <a:off x="685800" y="3291840"/>
            <a:ext cx="3474720" cy="9144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All apps must be signed by a verified developer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Prevents unauthorized code from running</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Unsigned apps cannot install (without jailbreaking)</a:t>
            </a:r>
            <a:endParaRPr lang="en-US" sz="1200" dirty="0"/>
          </a:p>
        </p:txBody>
      </p:sp>
      <p:sp>
        <p:nvSpPr>
          <p:cNvPr id="14" name="Shape 11"/>
          <p:cNvSpPr/>
          <p:nvPr/>
        </p:nvSpPr>
        <p:spPr>
          <a:xfrm>
            <a:off x="4754880" y="2834640"/>
            <a:ext cx="3931920" cy="15544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Text 12"/>
          <p:cNvSpPr/>
          <p:nvPr/>
        </p:nvSpPr>
        <p:spPr>
          <a:xfrm>
            <a:off x="4983480" y="2926080"/>
            <a:ext cx="3474720" cy="274320"/>
          </a:xfrm>
          <a:prstGeom prst="rect">
            <a:avLst/>
          </a:prstGeom>
          <a:noFill/>
          <a:ln/>
        </p:spPr>
        <p:txBody>
          <a:bodyPr wrap="square" lIns="0" tIns="0" rIns="0" bIns="0" rtlCol="0" anchor="ctr"/>
          <a:lstStyle/>
          <a:p>
            <a:pPr marL="0" indent="0">
              <a:buNone/>
            </a:pPr>
            <a:r>
              <a:rPr lang="en-US" sz="1400" b="1" dirty="0">
                <a:solidFill>
                  <a:srgbClr val="2E86DE"/>
                </a:solidFill>
                <a:latin typeface="Trebuchet MS" pitchFamily="34" charset="0"/>
                <a:ea typeface="Trebuchet MS" pitchFamily="34" charset="-122"/>
                <a:cs typeface="Trebuchet MS" pitchFamily="34" charset="-120"/>
              </a:rPr>
              <a:t>App Store Review</a:t>
            </a:r>
            <a:endParaRPr lang="en-US" sz="1400" dirty="0"/>
          </a:p>
        </p:txBody>
      </p:sp>
      <p:sp>
        <p:nvSpPr>
          <p:cNvPr id="16" name="Text 13"/>
          <p:cNvSpPr/>
          <p:nvPr/>
        </p:nvSpPr>
        <p:spPr>
          <a:xfrm>
            <a:off x="4983480" y="3291840"/>
            <a:ext cx="3474720" cy="9144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Apple reviews all apps for malware, privacy issues, and quality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Apps rejected if they break the rules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Lowers the risk of harmful software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Privacy: A Core iOS Value</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Security – Matthew Bosworth</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 / 30</a:t>
            </a:r>
            <a:endParaRPr lang="en-US" sz="900" dirty="0"/>
          </a:p>
        </p:txBody>
      </p:sp>
      <p:sp>
        <p:nvSpPr>
          <p:cNvPr id="8" name="Shape 5"/>
          <p:cNvSpPr/>
          <p:nvPr/>
        </p:nvSpPr>
        <p:spPr>
          <a:xfrm>
            <a:off x="457200" y="1051560"/>
            <a:ext cx="822960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457200" y="1051560"/>
            <a:ext cx="73152" cy="777240"/>
          </a:xfrm>
          <a:prstGeom prst="rect">
            <a:avLst/>
          </a:prstGeom>
          <a:solidFill>
            <a:srgbClr val="2E86DE"/>
          </a:solidFill>
          <a:ln/>
        </p:spPr>
        <p:txBody>
          <a:bodyPr/>
          <a:lstStyle/>
          <a:p>
            <a:endParaRPr lang="en-US"/>
          </a:p>
        </p:txBody>
      </p:sp>
      <p:sp>
        <p:nvSpPr>
          <p:cNvPr id="10" name="Text 7"/>
          <p:cNvSpPr/>
          <p:nvPr/>
        </p:nvSpPr>
        <p:spPr>
          <a:xfrm>
            <a:off x="777240" y="1097280"/>
            <a:ext cx="7680960" cy="274320"/>
          </a:xfrm>
          <a:prstGeom prst="rect">
            <a:avLst/>
          </a:prstGeom>
          <a:noFill/>
          <a:ln/>
        </p:spPr>
        <p:txBody>
          <a:bodyPr wrap="square" lIns="0" tIns="0" rIns="0" bIns="0" rtlCol="0" anchor="ctr"/>
          <a:lstStyle/>
          <a:p>
            <a:pPr marL="0" indent="0">
              <a:buNone/>
            </a:pPr>
            <a:r>
              <a:rPr lang="en-US" sz="1300" b="1" dirty="0">
                <a:solidFill>
                  <a:srgbClr val="2E86DE"/>
                </a:solidFill>
                <a:latin typeface="Trebuchet MS" pitchFamily="34" charset="0"/>
                <a:ea typeface="Trebuchet MS" pitchFamily="34" charset="-122"/>
                <a:cs typeface="Trebuchet MS" pitchFamily="34" charset="-120"/>
              </a:rPr>
              <a:t>App Tracking Transparency</a:t>
            </a:r>
            <a:endParaRPr lang="en-US" sz="1300" dirty="0"/>
          </a:p>
        </p:txBody>
      </p:sp>
      <p:sp>
        <p:nvSpPr>
          <p:cNvPr id="11" name="Text 8"/>
          <p:cNvSpPr/>
          <p:nvPr/>
        </p:nvSpPr>
        <p:spPr>
          <a:xfrm>
            <a:off x="777240" y="1399032"/>
            <a:ext cx="768096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Apps must ask before tracking you across other apps and websites. Most users say no.</a:t>
            </a:r>
            <a:endParaRPr lang="en-US" sz="1200" dirty="0"/>
          </a:p>
        </p:txBody>
      </p:sp>
      <p:sp>
        <p:nvSpPr>
          <p:cNvPr id="12" name="Shape 9"/>
          <p:cNvSpPr/>
          <p:nvPr/>
        </p:nvSpPr>
        <p:spPr>
          <a:xfrm>
            <a:off x="457200" y="1947672"/>
            <a:ext cx="822960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0"/>
          <p:cNvSpPr/>
          <p:nvPr/>
        </p:nvSpPr>
        <p:spPr>
          <a:xfrm>
            <a:off x="457200" y="1947672"/>
            <a:ext cx="73152" cy="777240"/>
          </a:xfrm>
          <a:prstGeom prst="rect">
            <a:avLst/>
          </a:prstGeom>
          <a:solidFill>
            <a:srgbClr val="2E86DE"/>
          </a:solidFill>
          <a:ln/>
        </p:spPr>
        <p:txBody>
          <a:bodyPr/>
          <a:lstStyle/>
          <a:p>
            <a:endParaRPr lang="en-US"/>
          </a:p>
        </p:txBody>
      </p:sp>
      <p:sp>
        <p:nvSpPr>
          <p:cNvPr id="14" name="Text 11"/>
          <p:cNvSpPr/>
          <p:nvPr/>
        </p:nvSpPr>
        <p:spPr>
          <a:xfrm>
            <a:off x="777240" y="1993392"/>
            <a:ext cx="7680960" cy="274320"/>
          </a:xfrm>
          <a:prstGeom prst="rect">
            <a:avLst/>
          </a:prstGeom>
          <a:noFill/>
          <a:ln/>
        </p:spPr>
        <p:txBody>
          <a:bodyPr wrap="square" lIns="0" tIns="0" rIns="0" bIns="0" rtlCol="0" anchor="ctr"/>
          <a:lstStyle/>
          <a:p>
            <a:pPr marL="0" indent="0">
              <a:buNone/>
            </a:pPr>
            <a:r>
              <a:rPr lang="en-US" sz="1300" b="1" dirty="0">
                <a:solidFill>
                  <a:srgbClr val="2E86DE"/>
                </a:solidFill>
                <a:latin typeface="Trebuchet MS" pitchFamily="34" charset="0"/>
                <a:ea typeface="Trebuchet MS" pitchFamily="34" charset="-122"/>
                <a:cs typeface="Trebuchet MS" pitchFamily="34" charset="-120"/>
              </a:rPr>
              <a:t>Mail Privacy Protection</a:t>
            </a:r>
            <a:endParaRPr lang="en-US" sz="1300" dirty="0"/>
          </a:p>
        </p:txBody>
      </p:sp>
      <p:sp>
        <p:nvSpPr>
          <p:cNvPr id="15" name="Text 12"/>
          <p:cNvSpPr/>
          <p:nvPr/>
        </p:nvSpPr>
        <p:spPr>
          <a:xfrm>
            <a:off x="777240" y="2295144"/>
            <a:ext cx="768096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Hides your IP address and stops senders from knowing when you open an email.</a:t>
            </a:r>
            <a:endParaRPr lang="en-US" sz="1200" dirty="0"/>
          </a:p>
        </p:txBody>
      </p:sp>
      <p:sp>
        <p:nvSpPr>
          <p:cNvPr id="16" name="Shape 13"/>
          <p:cNvSpPr/>
          <p:nvPr/>
        </p:nvSpPr>
        <p:spPr>
          <a:xfrm>
            <a:off x="457200" y="2843784"/>
            <a:ext cx="822960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4"/>
          <p:cNvSpPr/>
          <p:nvPr/>
        </p:nvSpPr>
        <p:spPr>
          <a:xfrm>
            <a:off x="457200" y="2843784"/>
            <a:ext cx="73152" cy="777240"/>
          </a:xfrm>
          <a:prstGeom prst="rect">
            <a:avLst/>
          </a:prstGeom>
          <a:solidFill>
            <a:srgbClr val="2E86DE"/>
          </a:solidFill>
          <a:ln/>
        </p:spPr>
        <p:txBody>
          <a:bodyPr/>
          <a:lstStyle/>
          <a:p>
            <a:endParaRPr lang="en-US"/>
          </a:p>
        </p:txBody>
      </p:sp>
      <p:sp>
        <p:nvSpPr>
          <p:cNvPr id="18" name="Text 15"/>
          <p:cNvSpPr/>
          <p:nvPr/>
        </p:nvSpPr>
        <p:spPr>
          <a:xfrm>
            <a:off x="777240" y="2889504"/>
            <a:ext cx="7680960" cy="274320"/>
          </a:xfrm>
          <a:prstGeom prst="rect">
            <a:avLst/>
          </a:prstGeom>
          <a:noFill/>
          <a:ln/>
        </p:spPr>
        <p:txBody>
          <a:bodyPr wrap="square" lIns="0" tIns="0" rIns="0" bIns="0" rtlCol="0" anchor="ctr"/>
          <a:lstStyle/>
          <a:p>
            <a:pPr marL="0" indent="0">
              <a:buNone/>
            </a:pPr>
            <a:r>
              <a:rPr lang="en-US" sz="1300" b="1" dirty="0">
                <a:solidFill>
                  <a:srgbClr val="2E86DE"/>
                </a:solidFill>
                <a:latin typeface="Trebuchet MS" pitchFamily="34" charset="0"/>
                <a:ea typeface="Trebuchet MS" pitchFamily="34" charset="-122"/>
                <a:cs typeface="Trebuchet MS" pitchFamily="34" charset="-120"/>
              </a:rPr>
              <a:t>Safari Tracking Prevention</a:t>
            </a:r>
            <a:endParaRPr lang="en-US" sz="1300" dirty="0"/>
          </a:p>
        </p:txBody>
      </p:sp>
      <p:sp>
        <p:nvSpPr>
          <p:cNvPr id="19" name="Text 16"/>
          <p:cNvSpPr/>
          <p:nvPr/>
        </p:nvSpPr>
        <p:spPr>
          <a:xfrm>
            <a:off x="777240" y="3191256"/>
            <a:ext cx="768096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Blocks cross-site tracking cookies. Stops advertisers from following you online.</a:t>
            </a:r>
            <a:endParaRPr lang="en-US" sz="1200" dirty="0"/>
          </a:p>
        </p:txBody>
      </p:sp>
      <p:sp>
        <p:nvSpPr>
          <p:cNvPr id="20" name="Shape 17"/>
          <p:cNvSpPr/>
          <p:nvPr/>
        </p:nvSpPr>
        <p:spPr>
          <a:xfrm>
            <a:off x="457200" y="3739896"/>
            <a:ext cx="8229600" cy="777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1" name="Shape 18"/>
          <p:cNvSpPr/>
          <p:nvPr/>
        </p:nvSpPr>
        <p:spPr>
          <a:xfrm>
            <a:off x="457200" y="3739896"/>
            <a:ext cx="73152" cy="777240"/>
          </a:xfrm>
          <a:prstGeom prst="rect">
            <a:avLst/>
          </a:prstGeom>
          <a:solidFill>
            <a:srgbClr val="2E86DE"/>
          </a:solidFill>
          <a:ln/>
        </p:spPr>
        <p:txBody>
          <a:bodyPr/>
          <a:lstStyle/>
          <a:p>
            <a:endParaRPr lang="en-US"/>
          </a:p>
        </p:txBody>
      </p:sp>
      <p:sp>
        <p:nvSpPr>
          <p:cNvPr id="22" name="Text 19"/>
          <p:cNvSpPr/>
          <p:nvPr/>
        </p:nvSpPr>
        <p:spPr>
          <a:xfrm>
            <a:off x="777240" y="3785616"/>
            <a:ext cx="7680960" cy="274320"/>
          </a:xfrm>
          <a:prstGeom prst="rect">
            <a:avLst/>
          </a:prstGeom>
          <a:noFill/>
          <a:ln/>
        </p:spPr>
        <p:txBody>
          <a:bodyPr wrap="square" lIns="0" tIns="0" rIns="0" bIns="0" rtlCol="0" anchor="ctr"/>
          <a:lstStyle/>
          <a:p>
            <a:pPr marL="0" indent="0">
              <a:buNone/>
            </a:pPr>
            <a:r>
              <a:rPr lang="en-US" sz="1300" b="1" dirty="0">
                <a:solidFill>
                  <a:srgbClr val="2E86DE"/>
                </a:solidFill>
                <a:latin typeface="Trebuchet MS" pitchFamily="34" charset="0"/>
                <a:ea typeface="Trebuchet MS" pitchFamily="34" charset="-122"/>
                <a:cs typeface="Trebuchet MS" pitchFamily="34" charset="-120"/>
              </a:rPr>
              <a:t>Privacy Nutrition Labels</a:t>
            </a:r>
            <a:endParaRPr lang="en-US" sz="1300" dirty="0"/>
          </a:p>
        </p:txBody>
      </p:sp>
      <p:sp>
        <p:nvSpPr>
          <p:cNvPr id="23" name="Text 20"/>
          <p:cNvSpPr/>
          <p:nvPr/>
        </p:nvSpPr>
        <p:spPr>
          <a:xfrm>
            <a:off x="777240" y="4087368"/>
            <a:ext cx="768096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Every app on the App Store shows what data it collects — before you download it.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640080" y="1463040"/>
            <a:ext cx="502920" cy="502920"/>
          </a:xfrm>
          <a:prstGeom prst="rect">
            <a:avLst/>
          </a:prstGeom>
        </p:spPr>
      </p:pic>
      <p:sp>
        <p:nvSpPr>
          <p:cNvPr id="4" name="Text 1"/>
          <p:cNvSpPr/>
          <p:nvPr/>
        </p:nvSpPr>
        <p:spPr>
          <a:xfrm>
            <a:off x="1371600" y="137160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The Future of iOS</a:t>
            </a:r>
            <a:endParaRPr lang="en-US" sz="3200" dirty="0"/>
          </a:p>
        </p:txBody>
      </p:sp>
      <p:sp>
        <p:nvSpPr>
          <p:cNvPr id="5" name="Text 2"/>
          <p:cNvSpPr/>
          <p:nvPr/>
        </p:nvSpPr>
        <p:spPr>
          <a:xfrm>
            <a:off x="640080" y="2286000"/>
            <a:ext cx="7863840" cy="457200"/>
          </a:xfrm>
          <a:prstGeom prst="rect">
            <a:avLst/>
          </a:prstGeom>
          <a:noFill/>
          <a:ln/>
        </p:spPr>
        <p:txBody>
          <a:bodyPr wrap="square" lIns="0" tIns="0" rIns="0" bIns="0" rtlCol="0" anchor="ctr"/>
          <a:lstStyle/>
          <a:p>
            <a:pPr marL="0" indent="0">
              <a:buNone/>
            </a:pPr>
            <a:r>
              <a:rPr lang="en-US" sz="1600" dirty="0">
                <a:solidFill>
                  <a:srgbClr val="54A0FF"/>
                </a:solidFill>
                <a:latin typeface="Calibri" pitchFamily="34" charset="0"/>
                <a:ea typeface="Calibri" pitchFamily="34" charset="-122"/>
                <a:cs typeface="Calibri" pitchFamily="34" charset="-120"/>
              </a:rPr>
              <a:t>Where iOS is heading next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iOS 26: Liquid Glass &amp; AI Expansion</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Future – Suphakrit Jinaongkan</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 / 30</a:t>
            </a:r>
            <a:endParaRPr lang="en-US" sz="900" dirty="0"/>
          </a:p>
        </p:txBody>
      </p:sp>
      <p:sp>
        <p:nvSpPr>
          <p:cNvPr id="8" name="Shape 5"/>
          <p:cNvSpPr/>
          <p:nvPr/>
        </p:nvSpPr>
        <p:spPr>
          <a:xfrm>
            <a:off x="45720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685800" y="1234440"/>
            <a:ext cx="3474720" cy="320040"/>
          </a:xfrm>
          <a:prstGeom prst="rect">
            <a:avLst/>
          </a:prstGeom>
          <a:noFill/>
          <a:ln/>
        </p:spPr>
        <p:txBody>
          <a:bodyPr wrap="square" lIns="0" tIns="0" rIns="0" bIns="0" rtlCol="0" anchor="ctr"/>
          <a:lstStyle/>
          <a:p>
            <a:pPr marL="0" indent="0">
              <a:buNone/>
            </a:pPr>
            <a:r>
              <a:rPr lang="en-US" sz="1600" b="1" dirty="0">
                <a:solidFill>
                  <a:srgbClr val="2E86DE"/>
                </a:solidFill>
                <a:latin typeface="Trebuchet MS" pitchFamily="34" charset="0"/>
                <a:ea typeface="Trebuchet MS" pitchFamily="34" charset="-122"/>
                <a:cs typeface="Trebuchet MS" pitchFamily="34" charset="-120"/>
              </a:rPr>
              <a:t>Liquid Glass Design</a:t>
            </a:r>
            <a:endParaRPr lang="en-US" sz="1600" dirty="0"/>
          </a:p>
        </p:txBody>
      </p:sp>
      <p:sp>
        <p:nvSpPr>
          <p:cNvPr id="10" name="Text 7"/>
          <p:cNvSpPr/>
          <p:nvPr/>
        </p:nvSpPr>
        <p:spPr>
          <a:xfrm>
            <a:off x="685800" y="1691640"/>
            <a:ext cx="3474720" cy="22860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Biggest redesign since iOS 7 in 2013</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Glass-like translucent interface across the entire OS</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Inspired by visionOS (Apple Vision Pro)</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Rounder icons, layered depth effects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Apple renamed iOS 19 to iOS 26 to match the year</a:t>
            </a:r>
            <a:endParaRPr lang="en-US" sz="1200" dirty="0"/>
          </a:p>
        </p:txBody>
      </p:sp>
      <p:sp>
        <p:nvSpPr>
          <p:cNvPr id="11" name="Shape 8"/>
          <p:cNvSpPr/>
          <p:nvPr/>
        </p:nvSpPr>
        <p:spPr>
          <a:xfrm>
            <a:off x="4754880" y="109728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4983480" y="1234440"/>
            <a:ext cx="3474720" cy="320040"/>
          </a:xfrm>
          <a:prstGeom prst="rect">
            <a:avLst/>
          </a:prstGeom>
          <a:noFill/>
          <a:ln/>
        </p:spPr>
        <p:txBody>
          <a:bodyPr wrap="square" lIns="0" tIns="0" rIns="0" bIns="0" rtlCol="0" anchor="ctr"/>
          <a:lstStyle/>
          <a:p>
            <a:pPr marL="0" indent="0">
              <a:buNone/>
            </a:pPr>
            <a:r>
              <a:rPr lang="en-US" sz="1600" b="1" dirty="0">
                <a:solidFill>
                  <a:srgbClr val="2E86DE"/>
                </a:solidFill>
                <a:latin typeface="Trebuchet MS" pitchFamily="34" charset="0"/>
                <a:ea typeface="Trebuchet MS" pitchFamily="34" charset="-122"/>
                <a:cs typeface="Trebuchet MS" pitchFamily="34" charset="-120"/>
              </a:rPr>
              <a:t>New AI &amp; System Features</a:t>
            </a:r>
            <a:endParaRPr lang="en-US" sz="1600" dirty="0"/>
          </a:p>
        </p:txBody>
      </p:sp>
      <p:sp>
        <p:nvSpPr>
          <p:cNvPr id="13" name="Text 10"/>
          <p:cNvSpPr/>
          <p:nvPr/>
        </p:nvSpPr>
        <p:spPr>
          <a:xfrm>
            <a:off x="4983480" y="1691640"/>
            <a:ext cx="3474720" cy="22860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Apple Intelligence in more languages</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Live translation through AirPods</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AI Actions — user-created AI commands</a:t>
            </a:r>
            <a:endParaRPr lang="en-US" sz="1200" dirty="0"/>
          </a:p>
          <a:p>
            <a:pPr marL="342900" indent="-342900">
              <a:spcAft>
                <a:spcPts val="800"/>
              </a:spcAft>
              <a:buSzPct val="100000"/>
              <a:buChar char="•"/>
            </a:pPr>
            <a:r>
              <a:rPr lang="en-US" sz="1200" dirty="0">
                <a:solidFill>
                  <a:srgbClr val="1E293B"/>
                </a:solidFill>
                <a:latin typeface="Calibri" pitchFamily="34" charset="0"/>
                <a:ea typeface="Calibri" pitchFamily="34" charset="-122"/>
                <a:cs typeface="Calibri" pitchFamily="34" charset="-120"/>
              </a:rPr>
              <a:t>Adaptive Power — AI battery optimization</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Quantum-secure TLS 1.3 encryption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86DE"/>
          </a:solidFill>
          <a:ln/>
        </p:spPr>
        <p:txBody>
          <a:bodyPr/>
          <a:lstStyle/>
          <a:p>
            <a:endParaRPr lang="en-US"/>
          </a:p>
        </p:txBody>
      </p:sp>
      <p:sp>
        <p:nvSpPr>
          <p:cNvPr id="3" name="Shape 1"/>
          <p:cNvSpPr/>
          <p:nvPr/>
        </p:nvSpPr>
        <p:spPr>
          <a:xfrm>
            <a:off x="0" y="5084064"/>
            <a:ext cx="9144000" cy="59436"/>
          </a:xfrm>
          <a:prstGeom prst="rect">
            <a:avLst/>
          </a:prstGeom>
          <a:solidFill>
            <a:srgbClr val="2E86DE"/>
          </a:solidFill>
          <a:ln/>
        </p:spPr>
        <p:txBody>
          <a:bodyPr/>
          <a:lstStyle/>
          <a:p>
            <a:endParaRPr lang="en-US"/>
          </a:p>
        </p:txBody>
      </p:sp>
      <p:sp>
        <p:nvSpPr>
          <p:cNvPr id="4" name="Shape 2"/>
          <p:cNvSpPr/>
          <p:nvPr/>
        </p:nvSpPr>
        <p:spPr>
          <a:xfrm>
            <a:off x="3886200" y="640080"/>
            <a:ext cx="1097280" cy="1097280"/>
          </a:xfrm>
          <a:prstGeom prst="ellipse">
            <a:avLst/>
          </a:prstGeom>
          <a:solidFill>
            <a:srgbClr val="2E86DE"/>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4127602" y="881482"/>
            <a:ext cx="614477" cy="614477"/>
          </a:xfrm>
          <a:prstGeom prst="rect">
            <a:avLst/>
          </a:prstGeom>
        </p:spPr>
      </p:pic>
      <p:sp>
        <p:nvSpPr>
          <p:cNvPr id="6" name="Text 3"/>
          <p:cNvSpPr/>
          <p:nvPr/>
        </p:nvSpPr>
        <p:spPr>
          <a:xfrm>
            <a:off x="457200" y="1920240"/>
            <a:ext cx="8229600" cy="731520"/>
          </a:xfrm>
          <a:prstGeom prst="rect">
            <a:avLst/>
          </a:prstGeom>
          <a:noFill/>
          <a:ln/>
        </p:spPr>
        <p:txBody>
          <a:bodyPr wrap="square" lIns="0" tIns="0" rIns="0" bIns="0"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Thank You!</a:t>
            </a:r>
            <a:endParaRPr lang="en-US" sz="4000" dirty="0"/>
          </a:p>
        </p:txBody>
      </p:sp>
      <p:sp>
        <p:nvSpPr>
          <p:cNvPr id="7" name="Text 4"/>
          <p:cNvSpPr/>
          <p:nvPr/>
        </p:nvSpPr>
        <p:spPr>
          <a:xfrm>
            <a:off x="457200" y="2651760"/>
            <a:ext cx="8229600" cy="548640"/>
          </a:xfrm>
          <a:prstGeom prst="rect">
            <a:avLst/>
          </a:prstGeom>
          <a:noFill/>
          <a:ln/>
        </p:spPr>
        <p:txBody>
          <a:bodyPr wrap="square" lIns="0" tIns="0" rIns="0" bIns="0" rtlCol="0" anchor="ctr"/>
          <a:lstStyle/>
          <a:p>
            <a:pPr marL="0" indent="0" algn="ctr">
              <a:buNone/>
            </a:pPr>
            <a:r>
              <a:rPr lang="en-US" sz="2200" dirty="0">
                <a:solidFill>
                  <a:srgbClr val="54A0FF"/>
                </a:solidFill>
                <a:latin typeface="Calibri" pitchFamily="34" charset="0"/>
                <a:ea typeface="Calibri" pitchFamily="34" charset="-122"/>
                <a:cs typeface="Calibri" pitchFamily="34" charset="-120"/>
              </a:rPr>
              <a:t>Questions?</a:t>
            </a:r>
            <a:endParaRPr lang="en-US" sz="2200" dirty="0"/>
          </a:p>
        </p:txBody>
      </p:sp>
      <p:sp>
        <p:nvSpPr>
          <p:cNvPr id="8" name="Text 5"/>
          <p:cNvSpPr/>
          <p:nvPr/>
        </p:nvSpPr>
        <p:spPr>
          <a:xfrm>
            <a:off x="457200" y="3474720"/>
            <a:ext cx="8229600" cy="3200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Dylan  •  Matthew  •  Christopher  •  Mohamed  •  Suphakrit  •  Zarah</a:t>
            </a:r>
            <a:endParaRPr lang="en-US" sz="1300" dirty="0"/>
          </a:p>
        </p:txBody>
      </p:sp>
      <p:sp>
        <p:nvSpPr>
          <p:cNvPr id="9" name="Text 6"/>
          <p:cNvSpPr/>
          <p:nvPr/>
        </p:nvSpPr>
        <p:spPr>
          <a:xfrm>
            <a:off x="457200" y="4023360"/>
            <a:ext cx="822960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COP 4610 – Operating Systems  •  Professor Sanjay Ahuja</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University of North Florida  •  Spring 2026</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References</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References</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 / 30</a:t>
            </a:r>
            <a:endParaRPr lang="en-US" sz="900" dirty="0"/>
          </a:p>
        </p:txBody>
      </p:sp>
      <p:sp>
        <p:nvSpPr>
          <p:cNvPr id="8" name="Text 5"/>
          <p:cNvSpPr/>
          <p:nvPr/>
        </p:nvSpPr>
        <p:spPr>
          <a:xfrm>
            <a:off x="457200" y="1051560"/>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  Apple Inc. (2025). iOS — Apple Developer Documentation. https://developer.apple.com/ios/</a:t>
            </a:r>
            <a:endParaRPr lang="en-US" sz="1000" dirty="0"/>
          </a:p>
        </p:txBody>
      </p:sp>
      <p:sp>
        <p:nvSpPr>
          <p:cNvPr id="9" name="Text 6"/>
          <p:cNvSpPr/>
          <p:nvPr/>
        </p:nvSpPr>
        <p:spPr>
          <a:xfrm>
            <a:off x="457200" y="1490472"/>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[2]  Apple Inc. (2025). iOS Security Guide. https://support.apple.com/guide/security/welcome/web</a:t>
            </a:r>
            <a:endParaRPr lang="en-US" sz="1000" dirty="0"/>
          </a:p>
        </p:txBody>
      </p:sp>
      <p:sp>
        <p:nvSpPr>
          <p:cNvPr id="10" name="Text 7"/>
          <p:cNvSpPr/>
          <p:nvPr/>
        </p:nvSpPr>
        <p:spPr>
          <a:xfrm>
            <a:off x="457200" y="1929384"/>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[3]  Apple Inc. (2025). About the security content of iOS 26. https://support.apple.com/en-us/HT201222</a:t>
            </a:r>
            <a:endParaRPr lang="en-US" sz="1000" dirty="0"/>
          </a:p>
        </p:txBody>
      </p:sp>
      <p:sp>
        <p:nvSpPr>
          <p:cNvPr id="11" name="Text 8"/>
          <p:cNvSpPr/>
          <p:nvPr/>
        </p:nvSpPr>
        <p:spPr>
          <a:xfrm>
            <a:off x="457200" y="2368296"/>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[4]  Apple Inc. (2025). App Store Review Guidelines. https://developer.apple.com/app-store/review/guidelines/</a:t>
            </a:r>
            <a:endParaRPr lang="en-US" sz="1000" dirty="0"/>
          </a:p>
        </p:txBody>
      </p:sp>
      <p:sp>
        <p:nvSpPr>
          <p:cNvPr id="12" name="Text 9"/>
          <p:cNvSpPr/>
          <p:nvPr/>
        </p:nvSpPr>
        <p:spPr>
          <a:xfrm>
            <a:off x="457200" y="2807208"/>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[5]  Apple Inc. (2025). Apple Platform Security. https://support.apple.com/guide/security/</a:t>
            </a:r>
            <a:endParaRPr lang="en-US" sz="1000" dirty="0"/>
          </a:p>
        </p:txBody>
      </p:sp>
      <p:sp>
        <p:nvSpPr>
          <p:cNvPr id="13" name="Text 10"/>
          <p:cNvSpPr/>
          <p:nvPr/>
        </p:nvSpPr>
        <p:spPr>
          <a:xfrm>
            <a:off x="457200" y="3246120"/>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[6]  Apple Inc. (2024). Apple Intelligence — Apple Machine Learning. https://machinelearning.apple.com/</a:t>
            </a:r>
            <a:endParaRPr lang="en-US" sz="1000" dirty="0"/>
          </a:p>
        </p:txBody>
      </p:sp>
      <p:sp>
        <p:nvSpPr>
          <p:cNvPr id="14" name="Text 11"/>
          <p:cNvSpPr/>
          <p:nvPr/>
        </p:nvSpPr>
        <p:spPr>
          <a:xfrm>
            <a:off x="457200" y="3685032"/>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[7]  Levin, J. (2024). *OS Internals: Volume I — User Mode. Technologeeks Press.</a:t>
            </a:r>
            <a:endParaRPr lang="en-US" sz="1000" dirty="0"/>
          </a:p>
        </p:txBody>
      </p:sp>
      <p:sp>
        <p:nvSpPr>
          <p:cNvPr id="15" name="Text 12"/>
          <p:cNvSpPr/>
          <p:nvPr/>
        </p:nvSpPr>
        <p:spPr>
          <a:xfrm>
            <a:off x="457200" y="4123944"/>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[8]  Levin, J. (2024). *OS Internals: Volume III — Security and Insecurity. Technologeeks Press.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1628"/>
          </a:solidFill>
          <a:ln/>
        </p:spPr>
        <p:txBody>
          <a:bodyPr/>
          <a:lstStyle/>
          <a:p>
            <a:endParaRPr lang="en-US"/>
          </a:p>
        </p:txBody>
      </p:sp>
      <p:sp>
        <p:nvSpPr>
          <p:cNvPr id="3" name="Shape 1"/>
          <p:cNvSpPr/>
          <p:nvPr/>
        </p:nvSpPr>
        <p:spPr>
          <a:xfrm>
            <a:off x="0" y="868680"/>
            <a:ext cx="9144000" cy="36576"/>
          </a:xfrm>
          <a:prstGeom prst="rect">
            <a:avLst/>
          </a:prstGeom>
          <a:solidFill>
            <a:srgbClr val="2E86DE"/>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164592"/>
            <a:ext cx="457200" cy="457200"/>
          </a:xfrm>
          <a:prstGeom prst="rect">
            <a:avLst/>
          </a:prstGeom>
        </p:spPr>
      </p:pic>
      <p:sp>
        <p:nvSpPr>
          <p:cNvPr id="5" name="Text 2"/>
          <p:cNvSpPr/>
          <p:nvPr/>
        </p:nvSpPr>
        <p:spPr>
          <a:xfrm>
            <a:off x="1051560" y="137160"/>
            <a:ext cx="758952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References (cont.)</a:t>
            </a:r>
            <a:endParaRPr lang="en-US" sz="2400" dirty="0"/>
          </a:p>
        </p:txBody>
      </p:sp>
      <p:sp>
        <p:nvSpPr>
          <p:cNvPr id="6" name="Text 3"/>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References</a:t>
            </a:r>
            <a:endParaRPr lang="en-US" sz="900" dirty="0"/>
          </a:p>
        </p:txBody>
      </p:sp>
      <p:sp>
        <p:nvSpPr>
          <p:cNvPr id="7" name="Text 4"/>
          <p:cNvSpPr/>
          <p:nvPr/>
        </p:nvSpPr>
        <p:spPr>
          <a:xfrm>
            <a:off x="6858000" y="4754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 / 30</a:t>
            </a:r>
            <a:endParaRPr lang="en-US" sz="900" dirty="0"/>
          </a:p>
        </p:txBody>
      </p:sp>
      <p:sp>
        <p:nvSpPr>
          <p:cNvPr id="8" name="Text 5"/>
          <p:cNvSpPr/>
          <p:nvPr/>
        </p:nvSpPr>
        <p:spPr>
          <a:xfrm>
            <a:off x="457200" y="1051560"/>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[9]  Silberschatz, A., Galvin, P. B., &amp; Gagne, G. (2021). Operating System Concepts (10th ed.). Wiley.</a:t>
            </a:r>
            <a:endParaRPr lang="en-US" sz="1000" dirty="0"/>
          </a:p>
        </p:txBody>
      </p:sp>
      <p:sp>
        <p:nvSpPr>
          <p:cNvPr id="9" name="Text 6"/>
          <p:cNvSpPr/>
          <p:nvPr/>
        </p:nvSpPr>
        <p:spPr>
          <a:xfrm>
            <a:off x="457200" y="1490472"/>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[10]  Tanenbaum, A. S., &amp; Bos, H. (2023). Modern Operating Systems (5th ed.). Pearson.</a:t>
            </a:r>
            <a:endParaRPr lang="en-US" sz="1000" dirty="0"/>
          </a:p>
        </p:txBody>
      </p:sp>
      <p:sp>
        <p:nvSpPr>
          <p:cNvPr id="10" name="Text 7"/>
          <p:cNvSpPr/>
          <p:nvPr/>
        </p:nvSpPr>
        <p:spPr>
          <a:xfrm>
            <a:off x="457200" y="1929384"/>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[11]  Apple Inc. (2025). Cocoa Touch Layer — iOS Technology Overview. https://developer.apple.com/library/archive/documentation/Miscellaneous/Conceptual/iPhoneOSTechOverview/</a:t>
            </a:r>
            <a:endParaRPr lang="en-US" sz="1000" dirty="0"/>
          </a:p>
        </p:txBody>
      </p:sp>
      <p:sp>
        <p:nvSpPr>
          <p:cNvPr id="11" name="Text 8"/>
          <p:cNvSpPr/>
          <p:nvPr/>
        </p:nvSpPr>
        <p:spPr>
          <a:xfrm>
            <a:off x="457200" y="2368296"/>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[12]  Apple Inc. (2025). XNU Kernel Source. https://github.com/apple-oss-distributions/xnu</a:t>
            </a:r>
            <a:endParaRPr lang="en-US" sz="1000" dirty="0"/>
          </a:p>
        </p:txBody>
      </p:sp>
      <p:sp>
        <p:nvSpPr>
          <p:cNvPr id="12" name="Text 9"/>
          <p:cNvSpPr/>
          <p:nvPr/>
        </p:nvSpPr>
        <p:spPr>
          <a:xfrm>
            <a:off x="457200" y="2807208"/>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[13]  Wikipedia contributors. (2026). iOS version history. Wikipedia. https://en.wikipedia.org/wiki/IOS_version_history</a:t>
            </a:r>
            <a:endParaRPr lang="en-US" sz="1000" dirty="0"/>
          </a:p>
        </p:txBody>
      </p:sp>
      <p:sp>
        <p:nvSpPr>
          <p:cNvPr id="13" name="Text 10"/>
          <p:cNvSpPr/>
          <p:nvPr/>
        </p:nvSpPr>
        <p:spPr>
          <a:xfrm>
            <a:off x="457200" y="3246120"/>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[14]  Wikipedia contributors. (2026). iOS 26. Wikipedia. https://en.wikipedia.org/wiki/IOS_26</a:t>
            </a:r>
            <a:endParaRPr lang="en-US" sz="1000" dirty="0"/>
          </a:p>
        </p:txBody>
      </p:sp>
      <p:sp>
        <p:nvSpPr>
          <p:cNvPr id="14" name="Text 11"/>
          <p:cNvSpPr/>
          <p:nvPr/>
        </p:nvSpPr>
        <p:spPr>
          <a:xfrm>
            <a:off x="457200" y="3685032"/>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[15]  Apple Inc. (2025). WWDC25 — What's New in iOS 26. https://developer.apple.com/wwdc25/</a:t>
            </a:r>
            <a:endParaRPr lang="en-US" sz="1000" dirty="0"/>
          </a:p>
        </p:txBody>
      </p:sp>
      <p:sp>
        <p:nvSpPr>
          <p:cNvPr id="15" name="Text 12"/>
          <p:cNvSpPr/>
          <p:nvPr/>
        </p:nvSpPr>
        <p:spPr>
          <a:xfrm>
            <a:off x="457200" y="4123944"/>
            <a:ext cx="8229600" cy="384048"/>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[16]  Morrissey, S. (2023). iOS Forensic Analysis for iPhone, iPad, and iPod Touch. Apress.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2652</Words>
  <Application>Microsoft Macintosh PowerPoint</Application>
  <PresentationFormat>On-screen Show (16:9)</PresentationFormat>
  <Paragraphs>440</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iOS Operating System</dc:title>
  <dc:subject>PptxGenJS Presentation</dc:subject>
  <dc:creator>COP 4610 Group</dc:creator>
  <cp:lastModifiedBy>Bosworth, Matthew</cp:lastModifiedBy>
  <cp:revision>1</cp:revision>
  <dcterms:created xsi:type="dcterms:W3CDTF">2026-04-01T00:38:10Z</dcterms:created>
  <dcterms:modified xsi:type="dcterms:W3CDTF">2026-04-01T00:52:46Z</dcterms:modified>
</cp:coreProperties>
</file>